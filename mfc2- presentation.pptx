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4" r:id="rId2"/>
    <p:sldId id="256" r:id="rId3"/>
    <p:sldId id="257" r:id="rId4"/>
    <p:sldId id="258" r:id="rId5"/>
    <p:sldId id="259" r:id="rId6"/>
    <p:sldId id="260" r:id="rId7"/>
    <p:sldId id="261" r:id="rId8"/>
    <p:sldId id="263" r:id="rId9"/>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83" autoAdjust="0"/>
    <p:restoredTop sz="94610"/>
  </p:normalViewPr>
  <p:slideViewPr>
    <p:cSldViewPr snapToGrid="0" snapToObjects="1">
      <p:cViewPr varScale="1">
        <p:scale>
          <a:sx n="71" d="100"/>
          <a:sy n="71" d="100"/>
        </p:scale>
        <p:origin x="552" y="43"/>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8911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70A17B7A-8354-D5B2-C676-8E618A787F34}"/>
              </a:ext>
            </a:extLst>
          </p:cNvPr>
          <p:cNvSpPr/>
          <p:nvPr/>
        </p:nvSpPr>
        <p:spPr>
          <a:xfrm>
            <a:off x="0" y="0"/>
            <a:ext cx="14630400" cy="8229600"/>
          </a:xfrm>
          <a:prstGeom prst="rect">
            <a:avLst/>
          </a:prstGeom>
          <a:solidFill>
            <a:srgbClr val="EFECE6"/>
          </a:solidFill>
          <a:ln/>
        </p:spPr>
      </p:sp>
      <p:sp>
        <p:nvSpPr>
          <p:cNvPr id="3" name="Shape 3">
            <a:extLst>
              <a:ext uri="{FF2B5EF4-FFF2-40B4-BE49-F238E27FC236}">
                <a16:creationId xmlns:a16="http://schemas.microsoft.com/office/drawing/2014/main" id="{FD0D301D-F11A-EC02-D710-2A0D044225FC}"/>
              </a:ext>
            </a:extLst>
          </p:cNvPr>
          <p:cNvSpPr/>
          <p:nvPr/>
        </p:nvSpPr>
        <p:spPr>
          <a:xfrm>
            <a:off x="3706008" y="5486401"/>
            <a:ext cx="7218381" cy="2475454"/>
          </a:xfrm>
          <a:prstGeom prst="roundRect">
            <a:avLst>
              <a:gd name="adj" fmla="val 2758"/>
            </a:avLst>
          </a:prstGeom>
          <a:solidFill>
            <a:srgbClr val="E1DBD0"/>
          </a:solidFill>
          <a:ln/>
        </p:spPr>
      </p:sp>
      <p:sp>
        <p:nvSpPr>
          <p:cNvPr id="4" name="TextBox 3">
            <a:extLst>
              <a:ext uri="{FF2B5EF4-FFF2-40B4-BE49-F238E27FC236}">
                <a16:creationId xmlns:a16="http://schemas.microsoft.com/office/drawing/2014/main" id="{1E345838-F021-FDE4-B3ED-736C48D04256}"/>
              </a:ext>
            </a:extLst>
          </p:cNvPr>
          <p:cNvSpPr txBox="1"/>
          <p:nvPr/>
        </p:nvSpPr>
        <p:spPr>
          <a:xfrm>
            <a:off x="4152451" y="6171603"/>
            <a:ext cx="6325496" cy="1569660"/>
          </a:xfrm>
          <a:prstGeom prst="rect">
            <a:avLst/>
          </a:prstGeom>
          <a:noFill/>
        </p:spPr>
        <p:txBody>
          <a:bodyPr wrap="square" rtlCol="0">
            <a:spAutoFit/>
          </a:bodyPr>
          <a:lstStyle/>
          <a:p>
            <a:pPr algn="ctr"/>
            <a:r>
              <a:rPr lang="en-IN" sz="2400" dirty="0">
                <a:latin typeface="Lato" panose="020F0502020204030203" pitchFamily="34" charset="0"/>
                <a:ea typeface="Lato" panose="020F0502020204030203" pitchFamily="34" charset="0"/>
                <a:cs typeface="Lato" panose="020F0502020204030203" pitchFamily="34" charset="0"/>
              </a:rPr>
              <a:t>KISHORE                 -     CB.SC.U4AIE23139</a:t>
            </a:r>
          </a:p>
          <a:p>
            <a:pPr algn="ctr"/>
            <a:r>
              <a:rPr lang="en-IN" sz="2400" dirty="0">
                <a:latin typeface="Lato" panose="020F0502020204030203" pitchFamily="34" charset="0"/>
                <a:ea typeface="Lato" panose="020F0502020204030203" pitchFamily="34" charset="0"/>
                <a:cs typeface="Lato" panose="020F0502020204030203" pitchFamily="34" charset="0"/>
              </a:rPr>
              <a:t>SAI CHARAN            -    CB.SC.U4AIE23143</a:t>
            </a:r>
          </a:p>
          <a:p>
            <a:pPr algn="ctr"/>
            <a:r>
              <a:rPr lang="en-IN" sz="2400" dirty="0">
                <a:latin typeface="Lato" panose="020F0502020204030203" pitchFamily="34" charset="0"/>
                <a:ea typeface="Lato" panose="020F0502020204030203" pitchFamily="34" charset="0"/>
                <a:cs typeface="Lato" panose="020F0502020204030203" pitchFamily="34" charset="0"/>
              </a:rPr>
              <a:t>KOUSHAL REDDY   -    CB.SC.U4AIE23145</a:t>
            </a:r>
          </a:p>
          <a:p>
            <a:pPr algn="ctr"/>
            <a:r>
              <a:rPr lang="en-IN" sz="2400" dirty="0">
                <a:latin typeface="Lato" panose="020F0502020204030203" pitchFamily="34" charset="0"/>
                <a:ea typeface="Lato" panose="020F0502020204030203" pitchFamily="34" charset="0"/>
                <a:cs typeface="Lato" panose="020F0502020204030203" pitchFamily="34" charset="0"/>
              </a:rPr>
              <a:t>NAVEEN BABU        -    CB.SC.U4AIE23153</a:t>
            </a:r>
          </a:p>
        </p:txBody>
      </p:sp>
      <p:sp>
        <p:nvSpPr>
          <p:cNvPr id="6" name="Shape 3">
            <a:extLst>
              <a:ext uri="{FF2B5EF4-FFF2-40B4-BE49-F238E27FC236}">
                <a16:creationId xmlns:a16="http://schemas.microsoft.com/office/drawing/2014/main" id="{E95EDB2E-22CF-37C9-1F5A-8D341790A730}"/>
              </a:ext>
            </a:extLst>
          </p:cNvPr>
          <p:cNvSpPr/>
          <p:nvPr/>
        </p:nvSpPr>
        <p:spPr>
          <a:xfrm>
            <a:off x="1376977" y="711827"/>
            <a:ext cx="11876442" cy="1470033"/>
          </a:xfrm>
          <a:prstGeom prst="roundRect">
            <a:avLst>
              <a:gd name="adj" fmla="val 2758"/>
            </a:avLst>
          </a:prstGeom>
          <a:solidFill>
            <a:srgbClr val="E1DBD0"/>
          </a:solidFill>
          <a:ln/>
        </p:spPr>
      </p:sp>
      <p:sp>
        <p:nvSpPr>
          <p:cNvPr id="7" name="TextBox 6">
            <a:extLst>
              <a:ext uri="{FF2B5EF4-FFF2-40B4-BE49-F238E27FC236}">
                <a16:creationId xmlns:a16="http://schemas.microsoft.com/office/drawing/2014/main" id="{B3813E89-0BD7-63C9-FFAF-3B83856BC21B}"/>
              </a:ext>
            </a:extLst>
          </p:cNvPr>
          <p:cNvSpPr txBox="1"/>
          <p:nvPr/>
        </p:nvSpPr>
        <p:spPr>
          <a:xfrm>
            <a:off x="1797419" y="995567"/>
            <a:ext cx="11358287" cy="830997"/>
          </a:xfrm>
          <a:prstGeom prst="rect">
            <a:avLst/>
          </a:prstGeom>
          <a:noFill/>
        </p:spPr>
        <p:txBody>
          <a:bodyPr wrap="square" rtlCol="0">
            <a:spAutoFit/>
          </a:bodyPr>
          <a:lstStyle/>
          <a:p>
            <a:r>
              <a:rPr lang="en-IN" sz="4800" b="1" dirty="0">
                <a:latin typeface="Lato" panose="020F0502020204030203" pitchFamily="34" charset="0"/>
                <a:ea typeface="Lato" panose="020F0502020204030203" pitchFamily="34" charset="0"/>
                <a:cs typeface="Lato" panose="020F0502020204030203" pitchFamily="34" charset="0"/>
              </a:rPr>
              <a:t>MATHEMATICS FOR COMPUTING - 2</a:t>
            </a:r>
          </a:p>
        </p:txBody>
      </p:sp>
      <p:sp>
        <p:nvSpPr>
          <p:cNvPr id="8" name="TextBox 7">
            <a:extLst>
              <a:ext uri="{FF2B5EF4-FFF2-40B4-BE49-F238E27FC236}">
                <a16:creationId xmlns:a16="http://schemas.microsoft.com/office/drawing/2014/main" id="{9F31BE34-8170-BFBC-3B62-6FFCB5D47D7B}"/>
              </a:ext>
            </a:extLst>
          </p:cNvPr>
          <p:cNvSpPr txBox="1"/>
          <p:nvPr/>
        </p:nvSpPr>
        <p:spPr>
          <a:xfrm>
            <a:off x="6305772" y="5580848"/>
            <a:ext cx="1753497" cy="461665"/>
          </a:xfrm>
          <a:prstGeom prst="rect">
            <a:avLst/>
          </a:prstGeom>
          <a:noFill/>
        </p:spPr>
        <p:txBody>
          <a:bodyPr wrap="square" rtlCol="0">
            <a:spAutoFit/>
          </a:bodyPr>
          <a:lstStyle/>
          <a:p>
            <a:pPr algn="ctr"/>
            <a:r>
              <a:rPr lang="en-IN" sz="2400" b="1" dirty="0">
                <a:latin typeface="Lato" panose="020F0502020204030203" pitchFamily="34" charset="0"/>
                <a:ea typeface="Lato" panose="020F0502020204030203" pitchFamily="34" charset="0"/>
                <a:cs typeface="Lato" panose="020F0502020204030203" pitchFamily="34" charset="0"/>
              </a:rPr>
              <a:t>TEAM 16</a:t>
            </a:r>
          </a:p>
        </p:txBody>
      </p:sp>
      <p:sp>
        <p:nvSpPr>
          <p:cNvPr id="9" name="Shape 3">
            <a:extLst>
              <a:ext uri="{FF2B5EF4-FFF2-40B4-BE49-F238E27FC236}">
                <a16:creationId xmlns:a16="http://schemas.microsoft.com/office/drawing/2014/main" id="{7DDF6E32-10BA-6325-9F83-B608DD3CAF39}"/>
              </a:ext>
            </a:extLst>
          </p:cNvPr>
          <p:cNvSpPr/>
          <p:nvPr/>
        </p:nvSpPr>
        <p:spPr>
          <a:xfrm>
            <a:off x="1300777" y="3249634"/>
            <a:ext cx="12028842" cy="1470033"/>
          </a:xfrm>
          <a:prstGeom prst="roundRect">
            <a:avLst>
              <a:gd name="adj" fmla="val 2758"/>
            </a:avLst>
          </a:prstGeom>
          <a:solidFill>
            <a:srgbClr val="E1DBD0"/>
          </a:solidFill>
          <a:ln/>
        </p:spPr>
      </p:sp>
      <p:sp>
        <p:nvSpPr>
          <p:cNvPr id="10" name="TextBox 9">
            <a:extLst>
              <a:ext uri="{FF2B5EF4-FFF2-40B4-BE49-F238E27FC236}">
                <a16:creationId xmlns:a16="http://schemas.microsoft.com/office/drawing/2014/main" id="{C2477CE5-6B1A-C41B-4F8C-F92C6A75299E}"/>
              </a:ext>
            </a:extLst>
          </p:cNvPr>
          <p:cNvSpPr txBox="1"/>
          <p:nvPr/>
        </p:nvSpPr>
        <p:spPr>
          <a:xfrm>
            <a:off x="1538342" y="3603812"/>
            <a:ext cx="11876442" cy="646331"/>
          </a:xfrm>
          <a:prstGeom prst="rect">
            <a:avLst/>
          </a:prstGeom>
          <a:noFill/>
        </p:spPr>
        <p:txBody>
          <a:bodyPr wrap="square" rtlCol="0">
            <a:spAutoFit/>
          </a:bodyPr>
          <a:lstStyle/>
          <a:p>
            <a:r>
              <a:rPr lang="en-IN" sz="3600" dirty="0">
                <a:latin typeface="Lato" panose="020F0502020204030203" pitchFamily="34" charset="0"/>
                <a:ea typeface="Lato" panose="020F0502020204030203" pitchFamily="34" charset="0"/>
                <a:cs typeface="Lato" panose="020F0502020204030203" pitchFamily="34" charset="0"/>
              </a:rPr>
              <a:t>FOURIER TRANSFORMATION IN IMAGE PROCESSING </a:t>
            </a:r>
          </a:p>
        </p:txBody>
      </p:sp>
      <p:sp>
        <p:nvSpPr>
          <p:cNvPr id="5" name="Rectangle 4">
            <a:extLst>
              <a:ext uri="{FF2B5EF4-FFF2-40B4-BE49-F238E27FC236}">
                <a16:creationId xmlns:a16="http://schemas.microsoft.com/office/drawing/2014/main" id="{A6277866-2747-C2E6-DB94-901EBE89B713}"/>
              </a:ext>
            </a:extLst>
          </p:cNvPr>
          <p:cNvSpPr/>
          <p:nvPr/>
        </p:nvSpPr>
        <p:spPr>
          <a:xfrm>
            <a:off x="0" y="0"/>
            <a:ext cx="14630400" cy="8229600"/>
          </a:xfrm>
          <a:prstGeom prst="rect">
            <a:avLst/>
          </a:prstGeom>
          <a:blipFill dpi="0" rotWithShape="1">
            <a:blip r:embed="rId2">
              <a:alphaModFix amt="17000"/>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8999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7620" y="0"/>
            <a:ext cx="14630400" cy="8229600"/>
          </a:xfrm>
          <a:prstGeom prst="rect">
            <a:avLst/>
          </a:prstGeom>
          <a:solidFill>
            <a:srgbClr val="EFECE6"/>
          </a:solidFill>
          <a:ln/>
        </p:spPr>
      </p:sp>
      <p:pic>
        <p:nvPicPr>
          <p:cNvPr id="4" name="Image 0" descr="preencoded.png"/>
          <p:cNvPicPr>
            <a:picLocks noChangeAspect="1"/>
          </p:cNvPicPr>
          <p:nvPr/>
        </p:nvPicPr>
        <p:blipFill>
          <a:blip r:embed="rId3"/>
          <a:stretch>
            <a:fillRect/>
          </a:stretch>
        </p:blipFill>
        <p:spPr>
          <a:xfrm>
            <a:off x="-7620" y="0"/>
            <a:ext cx="5486400" cy="8229600"/>
          </a:xfrm>
          <a:prstGeom prst="rect">
            <a:avLst/>
          </a:prstGeom>
        </p:spPr>
      </p:pic>
      <p:sp>
        <p:nvSpPr>
          <p:cNvPr id="5" name="Text 2"/>
          <p:cNvSpPr/>
          <p:nvPr/>
        </p:nvSpPr>
        <p:spPr>
          <a:xfrm>
            <a:off x="6319599" y="791111"/>
            <a:ext cx="7477601" cy="1916430"/>
          </a:xfrm>
          <a:prstGeom prst="rect">
            <a:avLst/>
          </a:prstGeom>
          <a:noFill/>
          <a:ln/>
        </p:spPr>
        <p:txBody>
          <a:bodyPr wrap="square" rtlCol="0" anchor="t"/>
          <a:lstStyle/>
          <a:p>
            <a:pPr marL="0" indent="0">
              <a:lnSpc>
                <a:spcPts val="7545"/>
              </a:lnSpc>
              <a:buNone/>
            </a:pPr>
            <a:r>
              <a:rPr lang="en-US" sz="6036" b="1" dirty="0">
                <a:solidFill>
                  <a:srgbClr val="282824"/>
                </a:solidFill>
                <a:latin typeface="Lato" pitchFamily="34" charset="0"/>
                <a:ea typeface="Lato" pitchFamily="34" charset="-122"/>
                <a:cs typeface="Lato" pitchFamily="34" charset="-120"/>
              </a:rPr>
              <a:t>Introduction to Fourier Transform</a:t>
            </a:r>
            <a:endParaRPr lang="en-US" sz="6036" dirty="0"/>
          </a:p>
        </p:txBody>
      </p:sp>
      <p:sp>
        <p:nvSpPr>
          <p:cNvPr id="6" name="Text 3"/>
          <p:cNvSpPr/>
          <p:nvPr/>
        </p:nvSpPr>
        <p:spPr>
          <a:xfrm>
            <a:off x="6319599" y="3498652"/>
            <a:ext cx="7477601" cy="3321696"/>
          </a:xfrm>
          <a:prstGeom prst="rect">
            <a:avLst/>
          </a:prstGeom>
          <a:noFill/>
          <a:ln/>
        </p:spPr>
        <p:txBody>
          <a:bodyPr wrap="square" rtlCol="0" anchor="t"/>
          <a:lstStyle/>
          <a:p>
            <a:pPr marL="0" indent="0">
              <a:lnSpc>
                <a:spcPts val="2799"/>
              </a:lnSpc>
              <a:buNone/>
            </a:pPr>
            <a:r>
              <a:rPr lang="en-US" dirty="0">
                <a:solidFill>
                  <a:srgbClr val="4A4A45"/>
                </a:solidFill>
                <a:latin typeface="Lato" pitchFamily="34" charset="0"/>
                <a:ea typeface="Lato" pitchFamily="34" charset="-122"/>
                <a:cs typeface="Lato" pitchFamily="34" charset="-120"/>
              </a:rPr>
              <a:t>The Fourier transform is a powerful mathematical tool that has revolutionized the field of image processing. This transform allows us to analyze and manipulate digital images in the frequency domain, unlocking a wealth of possibilities for various applications such as image compression, enhancement, and restoration. By decomposing an image into its fundamental sinusoidal components, the Fourier transform provides a deeper understanding of the image's underlying structure, enabling us to tackle complex image processing challenges with precision and efficiency.</a:t>
            </a:r>
            <a:endParaRPr lang="en-US" dirty="0"/>
          </a:p>
        </p:txBody>
      </p:sp>
      <p:sp>
        <p:nvSpPr>
          <p:cNvPr id="7" name="Shape 4"/>
          <p:cNvSpPr/>
          <p:nvPr/>
        </p:nvSpPr>
        <p:spPr>
          <a:xfrm>
            <a:off x="6319599" y="6608445"/>
            <a:ext cx="355402" cy="355402"/>
          </a:xfrm>
          <a:prstGeom prst="roundRect">
            <a:avLst>
              <a:gd name="adj" fmla="val 25726039"/>
            </a:avLst>
          </a:prstGeom>
          <a:noFill/>
          <a:ln w="7620">
            <a:solidFill>
              <a:srgbClr val="FFFFFF"/>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
        <p:nvSpPr>
          <p:cNvPr id="4" name="Text 2"/>
          <p:cNvSpPr/>
          <p:nvPr/>
        </p:nvSpPr>
        <p:spPr>
          <a:xfrm>
            <a:off x="2037993" y="1104662"/>
            <a:ext cx="6139696" cy="694373"/>
          </a:xfrm>
          <a:prstGeom prst="rect">
            <a:avLst/>
          </a:prstGeom>
          <a:noFill/>
          <a:ln/>
        </p:spPr>
        <p:txBody>
          <a:bodyPr wrap="none" rtlCol="0" anchor="t"/>
          <a:lstStyle/>
          <a:p>
            <a:pPr marL="0" indent="0">
              <a:lnSpc>
                <a:spcPts val="5468"/>
              </a:lnSpc>
              <a:buNone/>
            </a:pPr>
            <a:r>
              <a:rPr lang="en-US" sz="4374" b="1" dirty="0">
                <a:solidFill>
                  <a:srgbClr val="282824"/>
                </a:solidFill>
                <a:latin typeface="Lato" pitchFamily="34" charset="0"/>
                <a:ea typeface="Lato" pitchFamily="34" charset="-122"/>
                <a:cs typeface="Lato" pitchFamily="34" charset="-120"/>
              </a:rPr>
              <a:t>Objectives of the Project</a:t>
            </a:r>
            <a:endParaRPr lang="en-US" sz="4374" dirty="0"/>
          </a:p>
        </p:txBody>
      </p:sp>
      <p:sp>
        <p:nvSpPr>
          <p:cNvPr id="5" name="Shape 3"/>
          <p:cNvSpPr/>
          <p:nvPr/>
        </p:nvSpPr>
        <p:spPr>
          <a:xfrm>
            <a:off x="2037993" y="2493288"/>
            <a:ext cx="499943" cy="499943"/>
          </a:xfrm>
          <a:prstGeom prst="roundRect">
            <a:avLst>
              <a:gd name="adj" fmla="val 26667"/>
            </a:avLst>
          </a:prstGeom>
          <a:solidFill>
            <a:srgbClr val="E1DBD0"/>
          </a:solidFill>
          <a:ln/>
        </p:spPr>
      </p:sp>
      <p:sp>
        <p:nvSpPr>
          <p:cNvPr id="6" name="Text 4"/>
          <p:cNvSpPr/>
          <p:nvPr/>
        </p:nvSpPr>
        <p:spPr>
          <a:xfrm>
            <a:off x="2191226" y="2534960"/>
            <a:ext cx="193358" cy="416481"/>
          </a:xfrm>
          <a:prstGeom prst="rect">
            <a:avLst/>
          </a:prstGeom>
          <a:noFill/>
          <a:ln/>
        </p:spPr>
        <p:txBody>
          <a:bodyPr wrap="none" rtlCol="0" anchor="t"/>
          <a:lstStyle/>
          <a:p>
            <a:pPr marL="0" indent="0" algn="ctr">
              <a:lnSpc>
                <a:spcPts val="3281"/>
              </a:lnSpc>
              <a:buNone/>
            </a:pPr>
            <a:r>
              <a:rPr lang="en-US" sz="2624" b="1" dirty="0">
                <a:solidFill>
                  <a:srgbClr val="282824"/>
                </a:solidFill>
                <a:latin typeface="Lato" pitchFamily="34" charset="0"/>
                <a:ea typeface="Lato" pitchFamily="34" charset="-122"/>
                <a:cs typeface="Lato" pitchFamily="34" charset="-120"/>
              </a:rPr>
              <a:t>1</a:t>
            </a:r>
            <a:endParaRPr lang="en-US" sz="2624" dirty="0"/>
          </a:p>
        </p:txBody>
      </p:sp>
      <p:sp>
        <p:nvSpPr>
          <p:cNvPr id="7" name="Text 5"/>
          <p:cNvSpPr/>
          <p:nvPr/>
        </p:nvSpPr>
        <p:spPr>
          <a:xfrm>
            <a:off x="2760107" y="2493288"/>
            <a:ext cx="2777490" cy="347186"/>
          </a:xfrm>
          <a:prstGeom prst="rect">
            <a:avLst/>
          </a:prstGeom>
          <a:noFill/>
          <a:ln/>
        </p:spPr>
        <p:txBody>
          <a:bodyPr wrap="none" rtlCol="0" anchor="t"/>
          <a:lstStyle/>
          <a:p>
            <a:pPr marL="0" indent="0">
              <a:lnSpc>
                <a:spcPts val="2734"/>
              </a:lnSpc>
              <a:buNone/>
            </a:pPr>
            <a:r>
              <a:rPr lang="en-US" sz="2187" b="1" dirty="0">
                <a:solidFill>
                  <a:srgbClr val="282824"/>
                </a:solidFill>
                <a:latin typeface="Lato" pitchFamily="34" charset="0"/>
                <a:ea typeface="Lato" pitchFamily="34" charset="-122"/>
                <a:cs typeface="Lato" pitchFamily="34" charset="-120"/>
              </a:rPr>
              <a:t>Image Compression</a:t>
            </a:r>
            <a:endParaRPr lang="en-US" sz="2187" dirty="0"/>
          </a:p>
        </p:txBody>
      </p:sp>
      <p:sp>
        <p:nvSpPr>
          <p:cNvPr id="8" name="Text 6"/>
          <p:cNvSpPr/>
          <p:nvPr/>
        </p:nvSpPr>
        <p:spPr>
          <a:xfrm>
            <a:off x="2760107" y="2973705"/>
            <a:ext cx="4444008" cy="1760458"/>
          </a:xfrm>
          <a:prstGeom prst="rect">
            <a:avLst/>
          </a:prstGeom>
          <a:noFill/>
          <a:ln/>
        </p:spPr>
        <p:txBody>
          <a:bodyPr wrap="square" rtlCol="0" anchor="t"/>
          <a:lstStyle/>
          <a:p>
            <a:pPr marL="0" indent="0">
              <a:lnSpc>
                <a:spcPts val="2799"/>
              </a:lnSpc>
              <a:buNone/>
            </a:pPr>
            <a:r>
              <a:rPr lang="en-US" sz="1750" dirty="0">
                <a:solidFill>
                  <a:srgbClr val="4A4A45"/>
                </a:solidFill>
                <a:latin typeface="Lato" pitchFamily="34" charset="0"/>
                <a:ea typeface="Lato" pitchFamily="34" charset="-122"/>
                <a:cs typeface="Lato" pitchFamily="34" charset="-120"/>
              </a:rPr>
              <a:t>Leveraging the Fourier transform to reduce the file size of digital images without sacrificing visual quality, enabling more efficient storage and faster data transmission.</a:t>
            </a:r>
            <a:endParaRPr lang="en-US" sz="1750" dirty="0"/>
          </a:p>
        </p:txBody>
      </p:sp>
      <p:sp>
        <p:nvSpPr>
          <p:cNvPr id="9" name="Shape 7"/>
          <p:cNvSpPr/>
          <p:nvPr/>
        </p:nvSpPr>
        <p:spPr>
          <a:xfrm>
            <a:off x="7426285" y="2493288"/>
            <a:ext cx="499943" cy="499943"/>
          </a:xfrm>
          <a:prstGeom prst="roundRect">
            <a:avLst>
              <a:gd name="adj" fmla="val 26667"/>
            </a:avLst>
          </a:prstGeom>
          <a:solidFill>
            <a:srgbClr val="E1DBD0"/>
          </a:solidFill>
          <a:ln/>
        </p:spPr>
      </p:sp>
      <p:sp>
        <p:nvSpPr>
          <p:cNvPr id="10" name="Text 8"/>
          <p:cNvSpPr/>
          <p:nvPr/>
        </p:nvSpPr>
        <p:spPr>
          <a:xfrm>
            <a:off x="7579519" y="2534960"/>
            <a:ext cx="193358" cy="416481"/>
          </a:xfrm>
          <a:prstGeom prst="rect">
            <a:avLst/>
          </a:prstGeom>
          <a:noFill/>
          <a:ln/>
        </p:spPr>
        <p:txBody>
          <a:bodyPr wrap="none" rtlCol="0" anchor="t"/>
          <a:lstStyle/>
          <a:p>
            <a:pPr marL="0" indent="0" algn="ctr">
              <a:lnSpc>
                <a:spcPts val="3281"/>
              </a:lnSpc>
              <a:buNone/>
            </a:pPr>
            <a:r>
              <a:rPr lang="en-US" sz="2624" b="1" dirty="0">
                <a:solidFill>
                  <a:srgbClr val="282824"/>
                </a:solidFill>
                <a:latin typeface="Lato" pitchFamily="34" charset="0"/>
                <a:ea typeface="Lato" pitchFamily="34" charset="-122"/>
                <a:cs typeface="Lato" pitchFamily="34" charset="-120"/>
              </a:rPr>
              <a:t>2</a:t>
            </a:r>
            <a:endParaRPr lang="en-US" sz="2624" dirty="0"/>
          </a:p>
        </p:txBody>
      </p:sp>
      <p:sp>
        <p:nvSpPr>
          <p:cNvPr id="11" name="Text 9"/>
          <p:cNvSpPr/>
          <p:nvPr/>
        </p:nvSpPr>
        <p:spPr>
          <a:xfrm>
            <a:off x="8148399" y="2493288"/>
            <a:ext cx="2777490" cy="347186"/>
          </a:xfrm>
          <a:prstGeom prst="rect">
            <a:avLst/>
          </a:prstGeom>
          <a:noFill/>
          <a:ln/>
        </p:spPr>
        <p:txBody>
          <a:bodyPr wrap="none" rtlCol="0" anchor="t"/>
          <a:lstStyle/>
          <a:p>
            <a:pPr marL="0" indent="0">
              <a:lnSpc>
                <a:spcPts val="2734"/>
              </a:lnSpc>
              <a:buNone/>
            </a:pPr>
            <a:r>
              <a:rPr lang="en-US" sz="2187" b="1" dirty="0">
                <a:solidFill>
                  <a:srgbClr val="282824"/>
                </a:solidFill>
                <a:latin typeface="Lato" pitchFamily="34" charset="0"/>
                <a:ea typeface="Lato" pitchFamily="34" charset="-122"/>
                <a:cs typeface="Lato" pitchFamily="34" charset="-120"/>
              </a:rPr>
              <a:t>Image Enhancement</a:t>
            </a:r>
            <a:endParaRPr lang="en-US" sz="2187" dirty="0"/>
          </a:p>
        </p:txBody>
      </p:sp>
      <p:sp>
        <p:nvSpPr>
          <p:cNvPr id="12" name="Text 10"/>
          <p:cNvSpPr/>
          <p:nvPr/>
        </p:nvSpPr>
        <p:spPr>
          <a:xfrm>
            <a:off x="8148399" y="2973705"/>
            <a:ext cx="4444008" cy="1421606"/>
          </a:xfrm>
          <a:prstGeom prst="rect">
            <a:avLst/>
          </a:prstGeom>
          <a:noFill/>
          <a:ln/>
        </p:spPr>
        <p:txBody>
          <a:bodyPr wrap="square" rtlCol="0" anchor="t"/>
          <a:lstStyle/>
          <a:p>
            <a:pPr marL="0" indent="0">
              <a:lnSpc>
                <a:spcPts val="2799"/>
              </a:lnSpc>
              <a:buNone/>
            </a:pPr>
            <a:r>
              <a:rPr lang="en-US" sz="1750" dirty="0">
                <a:solidFill>
                  <a:srgbClr val="4A4A45"/>
                </a:solidFill>
                <a:latin typeface="Lato" pitchFamily="34" charset="0"/>
                <a:ea typeface="Lato" pitchFamily="34" charset="-122"/>
                <a:cs typeface="Lato" pitchFamily="34" charset="-120"/>
              </a:rPr>
              <a:t>Utilizing the frequency domain insights provided by the Fourier transform to improve the clarity, sharpness, and overall visual appeal of digital images.</a:t>
            </a:r>
            <a:endParaRPr lang="en-US" sz="1750" dirty="0"/>
          </a:p>
        </p:txBody>
      </p:sp>
      <p:sp>
        <p:nvSpPr>
          <p:cNvPr id="13" name="Shape 11"/>
          <p:cNvSpPr/>
          <p:nvPr/>
        </p:nvSpPr>
        <p:spPr>
          <a:xfrm>
            <a:off x="2037993" y="4867394"/>
            <a:ext cx="499943" cy="499943"/>
          </a:xfrm>
          <a:prstGeom prst="roundRect">
            <a:avLst>
              <a:gd name="adj" fmla="val 26667"/>
            </a:avLst>
          </a:prstGeom>
          <a:solidFill>
            <a:srgbClr val="E1DBD0"/>
          </a:solidFill>
          <a:ln/>
        </p:spPr>
      </p:sp>
      <p:sp>
        <p:nvSpPr>
          <p:cNvPr id="14" name="Text 12"/>
          <p:cNvSpPr/>
          <p:nvPr/>
        </p:nvSpPr>
        <p:spPr>
          <a:xfrm>
            <a:off x="2191226" y="4909066"/>
            <a:ext cx="193358" cy="416481"/>
          </a:xfrm>
          <a:prstGeom prst="rect">
            <a:avLst/>
          </a:prstGeom>
          <a:noFill/>
          <a:ln/>
        </p:spPr>
        <p:txBody>
          <a:bodyPr wrap="none" rtlCol="0" anchor="t"/>
          <a:lstStyle/>
          <a:p>
            <a:pPr marL="0" indent="0" algn="ctr">
              <a:lnSpc>
                <a:spcPts val="3281"/>
              </a:lnSpc>
              <a:buNone/>
            </a:pPr>
            <a:r>
              <a:rPr lang="en-US" sz="2624" b="1" dirty="0">
                <a:solidFill>
                  <a:srgbClr val="282824"/>
                </a:solidFill>
                <a:latin typeface="Lato" pitchFamily="34" charset="0"/>
                <a:ea typeface="Lato" pitchFamily="34" charset="-122"/>
                <a:cs typeface="Lato" pitchFamily="34" charset="-120"/>
              </a:rPr>
              <a:t>3</a:t>
            </a:r>
            <a:endParaRPr lang="en-US" sz="2624" dirty="0"/>
          </a:p>
        </p:txBody>
      </p:sp>
      <p:sp>
        <p:nvSpPr>
          <p:cNvPr id="15" name="Text 13"/>
          <p:cNvSpPr/>
          <p:nvPr/>
        </p:nvSpPr>
        <p:spPr>
          <a:xfrm>
            <a:off x="2760107" y="4867394"/>
            <a:ext cx="2777490" cy="347186"/>
          </a:xfrm>
          <a:prstGeom prst="rect">
            <a:avLst/>
          </a:prstGeom>
          <a:noFill/>
          <a:ln/>
        </p:spPr>
        <p:txBody>
          <a:bodyPr wrap="none" rtlCol="0" anchor="t"/>
          <a:lstStyle/>
          <a:p>
            <a:pPr marL="0" indent="0">
              <a:lnSpc>
                <a:spcPts val="2734"/>
              </a:lnSpc>
              <a:buNone/>
            </a:pPr>
            <a:r>
              <a:rPr lang="en-US" sz="2187" b="1" dirty="0">
                <a:solidFill>
                  <a:srgbClr val="282824"/>
                </a:solidFill>
                <a:latin typeface="Lato" pitchFamily="34" charset="0"/>
                <a:ea typeface="Lato" pitchFamily="34" charset="-122"/>
                <a:cs typeface="Lato" pitchFamily="34" charset="-120"/>
              </a:rPr>
              <a:t>Image Restoration</a:t>
            </a:r>
            <a:endParaRPr lang="en-US" sz="2187" dirty="0"/>
          </a:p>
        </p:txBody>
      </p:sp>
      <p:sp>
        <p:nvSpPr>
          <p:cNvPr id="16" name="Text 14"/>
          <p:cNvSpPr/>
          <p:nvPr/>
        </p:nvSpPr>
        <p:spPr>
          <a:xfrm>
            <a:off x="2760107" y="5347811"/>
            <a:ext cx="4444008" cy="1421606"/>
          </a:xfrm>
          <a:prstGeom prst="rect">
            <a:avLst/>
          </a:prstGeom>
          <a:noFill/>
          <a:ln/>
        </p:spPr>
        <p:txBody>
          <a:bodyPr wrap="square" rtlCol="0" anchor="t"/>
          <a:lstStyle/>
          <a:p>
            <a:pPr marL="0" indent="0">
              <a:lnSpc>
                <a:spcPts val="2799"/>
              </a:lnSpc>
              <a:buNone/>
            </a:pPr>
            <a:r>
              <a:rPr lang="en-US" sz="1750" dirty="0">
                <a:solidFill>
                  <a:srgbClr val="4A4A45"/>
                </a:solidFill>
                <a:latin typeface="Lato" pitchFamily="34" charset="0"/>
                <a:ea typeface="Lato" pitchFamily="34" charset="-122"/>
                <a:cs typeface="Lato" pitchFamily="34" charset="-120"/>
              </a:rPr>
              <a:t>Applying the Fourier transform to address common image degradation issues, such as noise, blurring, and distortion, restoring the original quality and detail of the image.</a:t>
            </a:r>
            <a:endParaRPr lang="en-US" sz="1750" dirty="0"/>
          </a:p>
        </p:txBody>
      </p:sp>
      <p:sp>
        <p:nvSpPr>
          <p:cNvPr id="17" name="Shape 15"/>
          <p:cNvSpPr/>
          <p:nvPr/>
        </p:nvSpPr>
        <p:spPr>
          <a:xfrm>
            <a:off x="7426285" y="4867394"/>
            <a:ext cx="499943" cy="499943"/>
          </a:xfrm>
          <a:prstGeom prst="roundRect">
            <a:avLst>
              <a:gd name="adj" fmla="val 26667"/>
            </a:avLst>
          </a:prstGeom>
          <a:solidFill>
            <a:srgbClr val="E1DBD0"/>
          </a:solidFill>
          <a:ln/>
        </p:spPr>
      </p:sp>
      <p:sp>
        <p:nvSpPr>
          <p:cNvPr id="18" name="Text 16"/>
          <p:cNvSpPr/>
          <p:nvPr/>
        </p:nvSpPr>
        <p:spPr>
          <a:xfrm>
            <a:off x="7579519" y="4909066"/>
            <a:ext cx="193358" cy="416481"/>
          </a:xfrm>
          <a:prstGeom prst="rect">
            <a:avLst/>
          </a:prstGeom>
          <a:noFill/>
          <a:ln/>
        </p:spPr>
        <p:txBody>
          <a:bodyPr wrap="none" rtlCol="0" anchor="t"/>
          <a:lstStyle/>
          <a:p>
            <a:pPr marL="0" indent="0" algn="ctr">
              <a:lnSpc>
                <a:spcPts val="3281"/>
              </a:lnSpc>
              <a:buNone/>
            </a:pPr>
            <a:r>
              <a:rPr lang="en-US" sz="2624" b="1" dirty="0">
                <a:solidFill>
                  <a:srgbClr val="282824"/>
                </a:solidFill>
                <a:latin typeface="Lato" pitchFamily="34" charset="0"/>
                <a:ea typeface="Lato" pitchFamily="34" charset="-122"/>
                <a:cs typeface="Lato" pitchFamily="34" charset="-120"/>
              </a:rPr>
              <a:t>4</a:t>
            </a:r>
            <a:endParaRPr lang="en-US" sz="2624" dirty="0"/>
          </a:p>
        </p:txBody>
      </p:sp>
      <p:sp>
        <p:nvSpPr>
          <p:cNvPr id="19" name="Text 17"/>
          <p:cNvSpPr/>
          <p:nvPr/>
        </p:nvSpPr>
        <p:spPr>
          <a:xfrm>
            <a:off x="8148399" y="4867394"/>
            <a:ext cx="2777490" cy="347186"/>
          </a:xfrm>
          <a:prstGeom prst="rect">
            <a:avLst/>
          </a:prstGeom>
          <a:noFill/>
          <a:ln/>
        </p:spPr>
        <p:txBody>
          <a:bodyPr wrap="none" rtlCol="0" anchor="t"/>
          <a:lstStyle/>
          <a:p>
            <a:pPr marL="0" indent="0">
              <a:lnSpc>
                <a:spcPts val="2734"/>
              </a:lnSpc>
              <a:buNone/>
            </a:pPr>
            <a:r>
              <a:rPr lang="en-US" sz="2187" b="1" dirty="0">
                <a:solidFill>
                  <a:srgbClr val="282824"/>
                </a:solidFill>
                <a:latin typeface="Lato" pitchFamily="34" charset="0"/>
                <a:ea typeface="Lato" pitchFamily="34" charset="-122"/>
                <a:cs typeface="Lato" pitchFamily="34" charset="-120"/>
              </a:rPr>
              <a:t>Feature Extraction</a:t>
            </a:r>
            <a:endParaRPr lang="en-US" sz="2187" dirty="0"/>
          </a:p>
        </p:txBody>
      </p:sp>
      <p:sp>
        <p:nvSpPr>
          <p:cNvPr id="20" name="Text 18"/>
          <p:cNvSpPr/>
          <p:nvPr/>
        </p:nvSpPr>
        <p:spPr>
          <a:xfrm>
            <a:off x="8148399" y="5347811"/>
            <a:ext cx="4444008" cy="1777008"/>
          </a:xfrm>
          <a:prstGeom prst="rect">
            <a:avLst/>
          </a:prstGeom>
          <a:noFill/>
          <a:ln/>
        </p:spPr>
        <p:txBody>
          <a:bodyPr wrap="square" rtlCol="0" anchor="t"/>
          <a:lstStyle/>
          <a:p>
            <a:pPr marL="0" indent="0">
              <a:lnSpc>
                <a:spcPts val="2799"/>
              </a:lnSpc>
              <a:buNone/>
            </a:pPr>
            <a:r>
              <a:rPr lang="en-US" sz="1750" dirty="0">
                <a:solidFill>
                  <a:srgbClr val="4A4A45"/>
                </a:solidFill>
                <a:latin typeface="Lato" pitchFamily="34" charset="0"/>
                <a:ea typeface="Lato" pitchFamily="34" charset="-122"/>
                <a:cs typeface="Lato" pitchFamily="34" charset="-120"/>
              </a:rPr>
              <a:t>Extracting key features and patterns from digital images using the Fourier transform, enabling advanced applications like object recognition, image classification, and content-based retrieval.</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
        <p:nvSpPr>
          <p:cNvPr id="4" name="Text 2"/>
          <p:cNvSpPr/>
          <p:nvPr/>
        </p:nvSpPr>
        <p:spPr>
          <a:xfrm>
            <a:off x="2085856" y="908446"/>
            <a:ext cx="6216968" cy="694373"/>
          </a:xfrm>
          <a:prstGeom prst="rect">
            <a:avLst/>
          </a:prstGeom>
          <a:noFill/>
          <a:ln/>
        </p:spPr>
        <p:txBody>
          <a:bodyPr wrap="none" rtlCol="0" anchor="t"/>
          <a:lstStyle/>
          <a:p>
            <a:pPr marL="0" indent="0">
              <a:lnSpc>
                <a:spcPts val="5468"/>
              </a:lnSpc>
              <a:buNone/>
            </a:pPr>
            <a:r>
              <a:rPr lang="en-US" sz="4374" b="1" dirty="0">
                <a:solidFill>
                  <a:srgbClr val="282824"/>
                </a:solidFill>
                <a:latin typeface="Lato" pitchFamily="34" charset="0"/>
                <a:ea typeface="Lato" pitchFamily="34" charset="-122"/>
                <a:cs typeface="Lato" pitchFamily="34" charset="-120"/>
              </a:rPr>
              <a:t>Compression of an Image</a:t>
            </a:r>
            <a:endParaRPr lang="en-US" sz="4374" dirty="0"/>
          </a:p>
        </p:txBody>
      </p:sp>
      <p:sp>
        <p:nvSpPr>
          <p:cNvPr id="5" name="Text 3"/>
          <p:cNvSpPr/>
          <p:nvPr/>
        </p:nvSpPr>
        <p:spPr>
          <a:xfrm>
            <a:off x="2024181" y="2394808"/>
            <a:ext cx="3156347" cy="694373"/>
          </a:xfrm>
          <a:prstGeom prst="rect">
            <a:avLst/>
          </a:prstGeom>
          <a:noFill/>
          <a:ln/>
        </p:spPr>
        <p:txBody>
          <a:bodyPr wrap="square" rtlCol="0" anchor="t"/>
          <a:lstStyle/>
          <a:p>
            <a:pPr marL="0" indent="0">
              <a:lnSpc>
                <a:spcPts val="2734"/>
              </a:lnSpc>
              <a:buNone/>
            </a:pPr>
            <a:r>
              <a:rPr lang="en-US" sz="2187" b="1" dirty="0">
                <a:solidFill>
                  <a:srgbClr val="282824"/>
                </a:solidFill>
                <a:latin typeface="Lato" pitchFamily="34" charset="0"/>
                <a:ea typeface="Lato" pitchFamily="34" charset="-122"/>
                <a:cs typeface="Lato" pitchFamily="34" charset="-120"/>
              </a:rPr>
              <a:t>The Basis of Image Compression</a:t>
            </a:r>
            <a:endParaRPr lang="en-US" sz="2187" dirty="0"/>
          </a:p>
        </p:txBody>
      </p:sp>
      <p:sp>
        <p:nvSpPr>
          <p:cNvPr id="6" name="Text 4"/>
          <p:cNvSpPr/>
          <p:nvPr/>
        </p:nvSpPr>
        <p:spPr>
          <a:xfrm>
            <a:off x="2037993" y="3321009"/>
            <a:ext cx="3156347" cy="3779701"/>
          </a:xfrm>
          <a:prstGeom prst="rect">
            <a:avLst/>
          </a:prstGeom>
          <a:noFill/>
          <a:ln/>
        </p:spPr>
        <p:txBody>
          <a:bodyPr wrap="square" rtlCol="0" anchor="t"/>
          <a:lstStyle/>
          <a:p>
            <a:pPr marL="0" indent="0">
              <a:lnSpc>
                <a:spcPts val="2799"/>
              </a:lnSpc>
              <a:buNone/>
            </a:pPr>
            <a:r>
              <a:rPr lang="en-US" sz="1750" dirty="0">
                <a:solidFill>
                  <a:srgbClr val="4A4A45"/>
                </a:solidFill>
                <a:latin typeface="Lato" pitchFamily="34" charset="0"/>
                <a:ea typeface="Lato" pitchFamily="34" charset="-122"/>
                <a:cs typeface="Lato" pitchFamily="34" charset="-120"/>
              </a:rPr>
              <a:t>The Fourier transform allows us to decompose an image into its fundamental frequency components. By identifying and retaining the most significant frequency components, we can achieve effective image compression without significantly compromising visual quality.</a:t>
            </a:r>
            <a:endParaRPr lang="en-US" sz="1750" dirty="0"/>
          </a:p>
        </p:txBody>
      </p:sp>
      <p:sp>
        <p:nvSpPr>
          <p:cNvPr id="7" name="Text 5"/>
          <p:cNvSpPr/>
          <p:nvPr/>
        </p:nvSpPr>
        <p:spPr>
          <a:xfrm>
            <a:off x="5743932" y="2404467"/>
            <a:ext cx="3156347" cy="694373"/>
          </a:xfrm>
          <a:prstGeom prst="rect">
            <a:avLst/>
          </a:prstGeom>
          <a:noFill/>
          <a:ln/>
        </p:spPr>
        <p:txBody>
          <a:bodyPr wrap="square" rtlCol="0" anchor="t"/>
          <a:lstStyle/>
          <a:p>
            <a:pPr marL="0" indent="0">
              <a:lnSpc>
                <a:spcPts val="2734"/>
              </a:lnSpc>
              <a:buNone/>
            </a:pPr>
            <a:r>
              <a:rPr lang="en-US" sz="2187" b="1" dirty="0">
                <a:solidFill>
                  <a:srgbClr val="282824"/>
                </a:solidFill>
                <a:latin typeface="Lato" pitchFamily="34" charset="0"/>
                <a:ea typeface="Lato" pitchFamily="34" charset="-122"/>
                <a:cs typeface="Lato" pitchFamily="34" charset="-120"/>
              </a:rPr>
              <a:t>Frequency-Domain</a:t>
            </a:r>
            <a:endParaRPr lang="en-US" sz="2187" dirty="0"/>
          </a:p>
        </p:txBody>
      </p:sp>
      <p:sp>
        <p:nvSpPr>
          <p:cNvPr id="8" name="Text 6"/>
          <p:cNvSpPr/>
          <p:nvPr/>
        </p:nvSpPr>
        <p:spPr>
          <a:xfrm>
            <a:off x="5743932" y="3321010"/>
            <a:ext cx="3156347" cy="3441034"/>
          </a:xfrm>
          <a:prstGeom prst="rect">
            <a:avLst/>
          </a:prstGeom>
          <a:noFill/>
          <a:ln/>
        </p:spPr>
        <p:txBody>
          <a:bodyPr wrap="square" rtlCol="0" anchor="t"/>
          <a:lstStyle/>
          <a:p>
            <a:pPr marL="0" indent="0">
              <a:lnSpc>
                <a:spcPts val="2799"/>
              </a:lnSpc>
              <a:buNone/>
            </a:pPr>
            <a:r>
              <a:rPr lang="en-US" sz="1750" dirty="0">
                <a:solidFill>
                  <a:srgbClr val="4A4A45"/>
                </a:solidFill>
                <a:latin typeface="Lato" pitchFamily="34" charset="0"/>
                <a:ea typeface="Lato" pitchFamily="34" charset="-122"/>
                <a:cs typeface="Lato" pitchFamily="34" charset="-120"/>
              </a:rPr>
              <a:t>In the frequency domain, the Fourier transform enables us to encode an image using fewer bits, as the high-frequency components that contribute less to the overall visual information can be selectively discarded or encoded with lower precision.</a:t>
            </a:r>
            <a:endParaRPr lang="en-US" sz="1750" dirty="0"/>
          </a:p>
        </p:txBody>
      </p:sp>
      <p:sp>
        <p:nvSpPr>
          <p:cNvPr id="9" name="Text 7"/>
          <p:cNvSpPr/>
          <p:nvPr/>
        </p:nvSpPr>
        <p:spPr>
          <a:xfrm>
            <a:off x="9449872" y="2404467"/>
            <a:ext cx="2777490" cy="347186"/>
          </a:xfrm>
          <a:prstGeom prst="rect">
            <a:avLst/>
          </a:prstGeom>
          <a:noFill/>
          <a:ln/>
        </p:spPr>
        <p:txBody>
          <a:bodyPr wrap="none" rtlCol="0" anchor="t"/>
          <a:lstStyle/>
          <a:p>
            <a:pPr marL="0" indent="0">
              <a:lnSpc>
                <a:spcPts val="2734"/>
              </a:lnSpc>
              <a:buNone/>
            </a:pPr>
            <a:r>
              <a:rPr lang="en-US" sz="2187" b="1" dirty="0">
                <a:solidFill>
                  <a:srgbClr val="282824"/>
                </a:solidFill>
                <a:latin typeface="Lato" pitchFamily="34" charset="0"/>
                <a:ea typeface="Lato" pitchFamily="34" charset="-122"/>
                <a:cs typeface="Lato" pitchFamily="34" charset="-120"/>
              </a:rPr>
              <a:t>Practical Applications</a:t>
            </a:r>
            <a:endParaRPr lang="en-US" sz="2187" dirty="0"/>
          </a:p>
        </p:txBody>
      </p:sp>
      <p:sp>
        <p:nvSpPr>
          <p:cNvPr id="10" name="Text 8"/>
          <p:cNvSpPr/>
          <p:nvPr/>
        </p:nvSpPr>
        <p:spPr>
          <a:xfrm>
            <a:off x="9449872" y="2973823"/>
            <a:ext cx="3156347" cy="3554015"/>
          </a:xfrm>
          <a:prstGeom prst="rect">
            <a:avLst/>
          </a:prstGeom>
          <a:noFill/>
          <a:ln/>
        </p:spPr>
        <p:txBody>
          <a:bodyPr wrap="square" rtlCol="0" anchor="t"/>
          <a:lstStyle/>
          <a:p>
            <a:pPr marL="0" indent="0">
              <a:lnSpc>
                <a:spcPts val="2799"/>
              </a:lnSpc>
              <a:buNone/>
            </a:pPr>
            <a:r>
              <a:rPr lang="en-US" sz="1750" dirty="0">
                <a:solidFill>
                  <a:srgbClr val="4A4A45"/>
                </a:solidFill>
                <a:latin typeface="Lato" pitchFamily="34" charset="0"/>
                <a:ea typeface="Lato" pitchFamily="34" charset="-122"/>
                <a:cs typeface="Lato" pitchFamily="34" charset="-120"/>
              </a:rPr>
              <a:t>The Fourier transform-based image compression techniques are widely used in various image and video formats, such as JPEG, MPEG, allowing for efficient storage and transmission of digital media without sacrificing perceptual quality.</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414899" y="81677"/>
            <a:ext cx="14630400" cy="8575596"/>
          </a:xfrm>
          <a:prstGeom prst="rect">
            <a:avLst/>
          </a:prstGeom>
          <a:solidFill>
            <a:srgbClr val="EFECE6"/>
          </a:solidFill>
          <a:ln/>
        </p:spPr>
      </p:sp>
      <p:pic>
        <p:nvPicPr>
          <p:cNvPr id="4" name="Image 0" descr="preencoded.png"/>
          <p:cNvPicPr>
            <a:picLocks noChangeAspect="1"/>
          </p:cNvPicPr>
          <p:nvPr/>
        </p:nvPicPr>
        <p:blipFill>
          <a:blip r:embed="rId3"/>
          <a:stretch>
            <a:fillRect/>
          </a:stretch>
        </p:blipFill>
        <p:spPr>
          <a:xfrm>
            <a:off x="0" y="0"/>
            <a:ext cx="14630400" cy="1944172"/>
          </a:xfrm>
          <a:prstGeom prst="rect">
            <a:avLst/>
          </a:prstGeom>
        </p:spPr>
      </p:pic>
      <p:sp>
        <p:nvSpPr>
          <p:cNvPr id="5" name="Text 2"/>
          <p:cNvSpPr/>
          <p:nvPr/>
        </p:nvSpPr>
        <p:spPr>
          <a:xfrm>
            <a:off x="1204912" y="729079"/>
            <a:ext cx="4457581" cy="486013"/>
          </a:xfrm>
          <a:prstGeom prst="rect">
            <a:avLst/>
          </a:prstGeom>
          <a:noFill/>
          <a:ln/>
        </p:spPr>
        <p:txBody>
          <a:bodyPr wrap="none" rtlCol="0" anchor="t"/>
          <a:lstStyle/>
          <a:p>
            <a:pPr marL="0" indent="0">
              <a:lnSpc>
                <a:spcPts val="3827"/>
              </a:lnSpc>
              <a:buNone/>
            </a:pPr>
            <a:r>
              <a:rPr lang="en-US" sz="4000" b="1" dirty="0">
                <a:solidFill>
                  <a:srgbClr val="282824"/>
                </a:solidFill>
                <a:latin typeface="Lato" pitchFamily="34" charset="0"/>
                <a:ea typeface="Lato" pitchFamily="34" charset="-122"/>
                <a:cs typeface="Lato" pitchFamily="34" charset="-120"/>
              </a:rPr>
              <a:t>Enhancement of an Image</a:t>
            </a:r>
            <a:endParaRPr lang="en-US" sz="4000" dirty="0"/>
          </a:p>
        </p:txBody>
      </p:sp>
      <p:sp>
        <p:nvSpPr>
          <p:cNvPr id="6" name="Shape 3"/>
          <p:cNvSpPr/>
          <p:nvPr/>
        </p:nvSpPr>
        <p:spPr>
          <a:xfrm>
            <a:off x="3621167" y="5619512"/>
            <a:ext cx="7388066" cy="31075"/>
          </a:xfrm>
          <a:prstGeom prst="rect">
            <a:avLst/>
          </a:prstGeom>
          <a:solidFill>
            <a:srgbClr val="CDCDCA"/>
          </a:solidFill>
          <a:ln/>
        </p:spPr>
      </p:sp>
      <p:sp>
        <p:nvSpPr>
          <p:cNvPr id="7" name="Shape 4"/>
          <p:cNvSpPr/>
          <p:nvPr/>
        </p:nvSpPr>
        <p:spPr>
          <a:xfrm>
            <a:off x="5413712" y="5075218"/>
            <a:ext cx="31075" cy="544354"/>
          </a:xfrm>
          <a:prstGeom prst="rect">
            <a:avLst/>
          </a:prstGeom>
          <a:solidFill>
            <a:srgbClr val="CDCDCA"/>
          </a:solidFill>
          <a:ln/>
        </p:spPr>
      </p:sp>
      <p:sp>
        <p:nvSpPr>
          <p:cNvPr id="8" name="Shape 5"/>
          <p:cNvSpPr/>
          <p:nvPr/>
        </p:nvSpPr>
        <p:spPr>
          <a:xfrm>
            <a:off x="5254347" y="5444550"/>
            <a:ext cx="349925" cy="349925"/>
          </a:xfrm>
          <a:prstGeom prst="roundRect">
            <a:avLst>
              <a:gd name="adj" fmla="val 26670"/>
            </a:avLst>
          </a:prstGeom>
          <a:solidFill>
            <a:srgbClr val="E1DBD0"/>
          </a:solidFill>
          <a:ln/>
        </p:spPr>
      </p:sp>
      <p:sp>
        <p:nvSpPr>
          <p:cNvPr id="9" name="Text 6"/>
          <p:cNvSpPr/>
          <p:nvPr/>
        </p:nvSpPr>
        <p:spPr>
          <a:xfrm>
            <a:off x="5361623" y="5473601"/>
            <a:ext cx="135374" cy="291703"/>
          </a:xfrm>
          <a:prstGeom prst="rect">
            <a:avLst/>
          </a:prstGeom>
          <a:noFill/>
          <a:ln/>
        </p:spPr>
        <p:txBody>
          <a:bodyPr wrap="none" rtlCol="0" anchor="t"/>
          <a:lstStyle/>
          <a:p>
            <a:pPr marL="0" indent="0" algn="ctr">
              <a:lnSpc>
                <a:spcPts val="2296"/>
              </a:lnSpc>
              <a:buNone/>
            </a:pPr>
            <a:r>
              <a:rPr lang="en-US" sz="1837" b="1" dirty="0">
                <a:solidFill>
                  <a:srgbClr val="282824"/>
                </a:solidFill>
                <a:latin typeface="Lato" pitchFamily="34" charset="0"/>
                <a:ea typeface="Lato" pitchFamily="34" charset="-122"/>
                <a:cs typeface="Lato" pitchFamily="34" charset="-120"/>
              </a:rPr>
              <a:t>1</a:t>
            </a:r>
            <a:endParaRPr lang="en-US" sz="1837" dirty="0"/>
          </a:p>
        </p:txBody>
      </p:sp>
      <p:sp>
        <p:nvSpPr>
          <p:cNvPr id="10" name="Text 7"/>
          <p:cNvSpPr/>
          <p:nvPr/>
        </p:nvSpPr>
        <p:spPr>
          <a:xfrm>
            <a:off x="1357758" y="2744098"/>
            <a:ext cx="4282740" cy="691829"/>
          </a:xfrm>
          <a:prstGeom prst="rect">
            <a:avLst/>
          </a:prstGeom>
          <a:noFill/>
          <a:ln/>
        </p:spPr>
        <p:txBody>
          <a:bodyPr wrap="none" rtlCol="0" anchor="t"/>
          <a:lstStyle/>
          <a:p>
            <a:pPr marL="0" indent="0" algn="ctr">
              <a:lnSpc>
                <a:spcPts val="1914"/>
              </a:lnSpc>
              <a:buNone/>
            </a:pPr>
            <a:r>
              <a:rPr lang="en-US" sz="2000" b="1" dirty="0">
                <a:solidFill>
                  <a:srgbClr val="282824"/>
                </a:solidFill>
                <a:latin typeface="Lato" pitchFamily="34" charset="0"/>
                <a:ea typeface="Lato" pitchFamily="34" charset="-122"/>
                <a:cs typeface="Lato" pitchFamily="34" charset="-120"/>
              </a:rPr>
              <a:t>Converts Image to Frequency Domain</a:t>
            </a:r>
          </a:p>
          <a:p>
            <a:pPr marL="0" indent="0" algn="ctr">
              <a:lnSpc>
                <a:spcPts val="1914"/>
              </a:lnSpc>
              <a:buNone/>
            </a:pPr>
            <a:r>
              <a:rPr lang="en-US" sz="2000" b="1" dirty="0">
                <a:solidFill>
                  <a:srgbClr val="282824"/>
                </a:solidFill>
                <a:latin typeface="Lato" pitchFamily="34" charset="0"/>
                <a:ea typeface="Lato" pitchFamily="34" charset="-122"/>
                <a:cs typeface="Lato" pitchFamily="34" charset="-120"/>
              </a:rPr>
              <a:t> and Applies High-Pass Filter</a:t>
            </a:r>
            <a:endParaRPr lang="en-US" sz="2000" dirty="0"/>
          </a:p>
        </p:txBody>
      </p:sp>
      <p:sp>
        <p:nvSpPr>
          <p:cNvPr id="11" name="Text 8"/>
          <p:cNvSpPr/>
          <p:nvPr/>
        </p:nvSpPr>
        <p:spPr>
          <a:xfrm>
            <a:off x="414899" y="3427333"/>
            <a:ext cx="6667058" cy="1492329"/>
          </a:xfrm>
          <a:prstGeom prst="rect">
            <a:avLst/>
          </a:prstGeom>
          <a:noFill/>
          <a:ln/>
        </p:spPr>
        <p:txBody>
          <a:bodyPr wrap="square" rtlCol="0" anchor="t"/>
          <a:lstStyle/>
          <a:p>
            <a:pPr marL="0" indent="0" algn="ctr">
              <a:lnSpc>
                <a:spcPts val="1960"/>
              </a:lnSpc>
              <a:buNone/>
            </a:pPr>
            <a:r>
              <a:rPr lang="en-US" dirty="0">
                <a:solidFill>
                  <a:srgbClr val="4A4A45"/>
                </a:solidFill>
                <a:latin typeface="Lato" pitchFamily="34" charset="0"/>
                <a:ea typeface="Lato" pitchFamily="34" charset="-122"/>
                <a:cs typeface="Lato" pitchFamily="34" charset="-120"/>
              </a:rPr>
              <a:t>Reads an image from a URL and converts it to grayscale. It then applies the 2D Fourier Transform to the grayscale image to obtain its frequency domain representation. A high-pass filter is created based on a cutoff frequency, which is applied to the Fourier-transformed image to filter out low-frequency components. This enhances the high-frequency details in the image.</a:t>
            </a:r>
            <a:endParaRPr lang="en-US" dirty="0"/>
          </a:p>
        </p:txBody>
      </p:sp>
      <p:sp>
        <p:nvSpPr>
          <p:cNvPr id="12" name="Shape 9"/>
          <p:cNvSpPr/>
          <p:nvPr/>
        </p:nvSpPr>
        <p:spPr>
          <a:xfrm>
            <a:off x="7299543" y="5619452"/>
            <a:ext cx="31075" cy="544354"/>
          </a:xfrm>
          <a:prstGeom prst="rect">
            <a:avLst/>
          </a:prstGeom>
          <a:solidFill>
            <a:srgbClr val="CDCDCA"/>
          </a:solidFill>
          <a:ln/>
        </p:spPr>
      </p:sp>
      <p:sp>
        <p:nvSpPr>
          <p:cNvPr id="13" name="Shape 10"/>
          <p:cNvSpPr/>
          <p:nvPr/>
        </p:nvSpPr>
        <p:spPr>
          <a:xfrm>
            <a:off x="7140178" y="5444550"/>
            <a:ext cx="349925" cy="349925"/>
          </a:xfrm>
          <a:prstGeom prst="roundRect">
            <a:avLst>
              <a:gd name="adj" fmla="val 26670"/>
            </a:avLst>
          </a:prstGeom>
          <a:solidFill>
            <a:srgbClr val="E1DBD0"/>
          </a:solidFill>
          <a:ln/>
        </p:spPr>
      </p:sp>
      <p:sp>
        <p:nvSpPr>
          <p:cNvPr id="14" name="Text 11"/>
          <p:cNvSpPr/>
          <p:nvPr/>
        </p:nvSpPr>
        <p:spPr>
          <a:xfrm>
            <a:off x="7247453" y="5473601"/>
            <a:ext cx="135374" cy="291703"/>
          </a:xfrm>
          <a:prstGeom prst="rect">
            <a:avLst/>
          </a:prstGeom>
          <a:noFill/>
          <a:ln/>
        </p:spPr>
        <p:txBody>
          <a:bodyPr wrap="none" rtlCol="0" anchor="t"/>
          <a:lstStyle/>
          <a:p>
            <a:pPr marL="0" indent="0" algn="ctr">
              <a:lnSpc>
                <a:spcPts val="2296"/>
              </a:lnSpc>
              <a:buNone/>
            </a:pPr>
            <a:r>
              <a:rPr lang="en-US" sz="1837" b="1" dirty="0">
                <a:solidFill>
                  <a:srgbClr val="282824"/>
                </a:solidFill>
                <a:latin typeface="Lato" pitchFamily="34" charset="0"/>
                <a:ea typeface="Lato" pitchFamily="34" charset="-122"/>
                <a:cs typeface="Lato" pitchFamily="34" charset="-120"/>
              </a:rPr>
              <a:t>2</a:t>
            </a:r>
            <a:endParaRPr lang="en-US" sz="1837" dirty="0"/>
          </a:p>
        </p:txBody>
      </p:sp>
      <p:sp>
        <p:nvSpPr>
          <p:cNvPr id="15" name="Text 12"/>
          <p:cNvSpPr/>
          <p:nvPr/>
        </p:nvSpPr>
        <p:spPr>
          <a:xfrm>
            <a:off x="5355371" y="6277455"/>
            <a:ext cx="3145162" cy="296462"/>
          </a:xfrm>
          <a:prstGeom prst="rect">
            <a:avLst/>
          </a:prstGeom>
          <a:noFill/>
          <a:ln/>
        </p:spPr>
        <p:txBody>
          <a:bodyPr wrap="none" rtlCol="0" anchor="t"/>
          <a:lstStyle/>
          <a:p>
            <a:pPr marL="0" indent="0" algn="ctr">
              <a:lnSpc>
                <a:spcPts val="1914"/>
              </a:lnSpc>
              <a:buNone/>
            </a:pPr>
            <a:r>
              <a:rPr lang="en-US" sz="2000" b="1" dirty="0">
                <a:solidFill>
                  <a:srgbClr val="282824"/>
                </a:solidFill>
                <a:latin typeface="Lato" pitchFamily="34" charset="0"/>
                <a:ea typeface="Lato" pitchFamily="34" charset="-122"/>
                <a:cs typeface="Lato" pitchFamily="34" charset="-120"/>
              </a:rPr>
              <a:t> Contrast-to-Noise Ratio (CNR)</a:t>
            </a:r>
            <a:endParaRPr lang="en-US" sz="2000" dirty="0"/>
          </a:p>
        </p:txBody>
      </p:sp>
      <p:sp>
        <p:nvSpPr>
          <p:cNvPr id="16" name="Text 13"/>
          <p:cNvSpPr/>
          <p:nvPr/>
        </p:nvSpPr>
        <p:spPr>
          <a:xfrm>
            <a:off x="3227294" y="6655594"/>
            <a:ext cx="10003284" cy="1492329"/>
          </a:xfrm>
          <a:prstGeom prst="rect">
            <a:avLst/>
          </a:prstGeom>
          <a:noFill/>
          <a:ln/>
        </p:spPr>
        <p:txBody>
          <a:bodyPr wrap="square" rtlCol="0" anchor="t"/>
          <a:lstStyle/>
          <a:p>
            <a:pPr marL="0" indent="0" algn="ctr">
              <a:lnSpc>
                <a:spcPts val="1960"/>
              </a:lnSpc>
              <a:buNone/>
            </a:pPr>
            <a:r>
              <a:rPr lang="en-US" dirty="0">
                <a:solidFill>
                  <a:srgbClr val="4A4A45"/>
                </a:solidFill>
                <a:latin typeface="Lato" pitchFamily="34" charset="0"/>
                <a:ea typeface="Lato" pitchFamily="34" charset="-122"/>
                <a:cs typeface="Lato" pitchFamily="34" charset="-120"/>
              </a:rPr>
              <a:t>Selects regions of interest (ROI) from the enhanced image for analysis. It calculates the mean intensity values of the ROI and a background region. It then computes the standard deviation of the background and uses these values to calculate the Contrast-to-Noise Ratio (CNR), which quantifies the contrast relative to the noise level in the image. The CNR value is printed to the console.</a:t>
            </a:r>
            <a:endParaRPr lang="en-US" dirty="0"/>
          </a:p>
        </p:txBody>
      </p:sp>
      <p:sp>
        <p:nvSpPr>
          <p:cNvPr id="17" name="Shape 14"/>
          <p:cNvSpPr/>
          <p:nvPr/>
        </p:nvSpPr>
        <p:spPr>
          <a:xfrm>
            <a:off x="9185493" y="5075218"/>
            <a:ext cx="31075" cy="544354"/>
          </a:xfrm>
          <a:prstGeom prst="rect">
            <a:avLst/>
          </a:prstGeom>
          <a:solidFill>
            <a:srgbClr val="CDCDCA"/>
          </a:solidFill>
          <a:ln/>
        </p:spPr>
      </p:sp>
      <p:sp>
        <p:nvSpPr>
          <p:cNvPr id="18" name="Shape 15"/>
          <p:cNvSpPr/>
          <p:nvPr/>
        </p:nvSpPr>
        <p:spPr>
          <a:xfrm>
            <a:off x="9026128" y="5444550"/>
            <a:ext cx="349925" cy="349925"/>
          </a:xfrm>
          <a:prstGeom prst="roundRect">
            <a:avLst>
              <a:gd name="adj" fmla="val 26670"/>
            </a:avLst>
          </a:prstGeom>
          <a:solidFill>
            <a:srgbClr val="E1DBD0"/>
          </a:solidFill>
          <a:ln/>
        </p:spPr>
      </p:sp>
      <p:sp>
        <p:nvSpPr>
          <p:cNvPr id="19" name="Text 16"/>
          <p:cNvSpPr/>
          <p:nvPr/>
        </p:nvSpPr>
        <p:spPr>
          <a:xfrm>
            <a:off x="9133403" y="5473601"/>
            <a:ext cx="135374" cy="291703"/>
          </a:xfrm>
          <a:prstGeom prst="rect">
            <a:avLst/>
          </a:prstGeom>
          <a:noFill/>
          <a:ln/>
        </p:spPr>
        <p:txBody>
          <a:bodyPr wrap="none" rtlCol="0" anchor="t"/>
          <a:lstStyle/>
          <a:p>
            <a:pPr marL="0" indent="0" algn="ctr">
              <a:lnSpc>
                <a:spcPts val="2296"/>
              </a:lnSpc>
              <a:buNone/>
            </a:pPr>
            <a:r>
              <a:rPr lang="en-US" sz="1837" b="1" dirty="0">
                <a:solidFill>
                  <a:srgbClr val="282824"/>
                </a:solidFill>
                <a:latin typeface="Lato" pitchFamily="34" charset="0"/>
                <a:ea typeface="Lato" pitchFamily="34" charset="-122"/>
                <a:cs typeface="Lato" pitchFamily="34" charset="-120"/>
              </a:rPr>
              <a:t>3</a:t>
            </a:r>
            <a:endParaRPr lang="en-US" sz="1837" dirty="0"/>
          </a:p>
        </p:txBody>
      </p:sp>
      <p:sp>
        <p:nvSpPr>
          <p:cNvPr id="20" name="Text 17"/>
          <p:cNvSpPr/>
          <p:nvPr/>
        </p:nvSpPr>
        <p:spPr>
          <a:xfrm>
            <a:off x="8342489" y="2672342"/>
            <a:ext cx="4888089" cy="691829"/>
          </a:xfrm>
          <a:prstGeom prst="rect">
            <a:avLst/>
          </a:prstGeom>
          <a:noFill/>
          <a:ln/>
        </p:spPr>
        <p:txBody>
          <a:bodyPr wrap="none" rtlCol="0" anchor="t"/>
          <a:lstStyle/>
          <a:p>
            <a:pPr marL="0" indent="0" algn="ctr">
              <a:lnSpc>
                <a:spcPts val="1914"/>
              </a:lnSpc>
              <a:buNone/>
            </a:pPr>
            <a:r>
              <a:rPr lang="en-US" sz="2000" b="1" dirty="0">
                <a:solidFill>
                  <a:srgbClr val="282824"/>
                </a:solidFill>
                <a:latin typeface="Lato" pitchFamily="34" charset="0"/>
                <a:ea typeface="Lato" pitchFamily="34" charset="-122"/>
                <a:cs typeface="Lato" pitchFamily="34" charset="-120"/>
              </a:rPr>
              <a:t>Transforms Back to Spatial Domain </a:t>
            </a:r>
          </a:p>
          <a:p>
            <a:pPr marL="0" indent="0" algn="ctr">
              <a:lnSpc>
                <a:spcPts val="1914"/>
              </a:lnSpc>
              <a:buNone/>
            </a:pPr>
            <a:r>
              <a:rPr lang="en-US" sz="2000" b="1" dirty="0">
                <a:solidFill>
                  <a:srgbClr val="282824"/>
                </a:solidFill>
                <a:latin typeface="Lato" pitchFamily="34" charset="0"/>
                <a:ea typeface="Lato" pitchFamily="34" charset="-122"/>
                <a:cs typeface="Lato" pitchFamily="34" charset="-120"/>
              </a:rPr>
              <a:t>and Visualizes Enhanced Image</a:t>
            </a:r>
            <a:endParaRPr lang="en-US" sz="2000" dirty="0"/>
          </a:p>
        </p:txBody>
      </p:sp>
      <p:sp>
        <p:nvSpPr>
          <p:cNvPr id="21" name="Text 18"/>
          <p:cNvSpPr/>
          <p:nvPr/>
        </p:nvSpPr>
        <p:spPr>
          <a:xfrm>
            <a:off x="7548442" y="3427333"/>
            <a:ext cx="6362259" cy="1613776"/>
          </a:xfrm>
          <a:prstGeom prst="rect">
            <a:avLst/>
          </a:prstGeom>
          <a:noFill/>
          <a:ln/>
        </p:spPr>
        <p:txBody>
          <a:bodyPr wrap="square" rtlCol="0" anchor="t"/>
          <a:lstStyle/>
          <a:p>
            <a:pPr marL="0" indent="0" algn="ctr">
              <a:lnSpc>
                <a:spcPts val="1960"/>
              </a:lnSpc>
              <a:buNone/>
            </a:pPr>
            <a:r>
              <a:rPr lang="en-US" dirty="0">
                <a:solidFill>
                  <a:srgbClr val="4A4A45"/>
                </a:solidFill>
                <a:latin typeface="Lato" pitchFamily="34" charset="0"/>
                <a:ea typeface="Lato" pitchFamily="34" charset="-122"/>
                <a:cs typeface="Lato" pitchFamily="34" charset="-120"/>
              </a:rPr>
              <a:t>After applying the high-pass filter in the frequency domain, the code uses the inverse 2D Fourier Transform to convert the filtered image back to the spatial domain. The resulting enhanced image is displayed in grayscale and then converted to a colored image using a colormap (jet) for better visualization of the details.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7620" y="0"/>
            <a:ext cx="14630400" cy="8229600"/>
          </a:xfrm>
          <a:prstGeom prst="rect">
            <a:avLst/>
          </a:prstGeom>
          <a:solidFill>
            <a:srgbClr val="EFECE6"/>
          </a:solidFill>
          <a:ln/>
        </p:spPr>
      </p:sp>
      <p:pic>
        <p:nvPicPr>
          <p:cNvPr id="4" name="Image 0" descr="preencoded.png"/>
          <p:cNvPicPr>
            <a:picLocks noChangeAspect="1"/>
          </p:cNvPicPr>
          <p:nvPr/>
        </p:nvPicPr>
        <p:blipFill>
          <a:blip r:embed="rId3"/>
          <a:stretch>
            <a:fillRect/>
          </a:stretch>
        </p:blipFill>
        <p:spPr>
          <a:xfrm>
            <a:off x="10980420" y="0"/>
            <a:ext cx="3657600" cy="8229600"/>
          </a:xfrm>
          <a:prstGeom prst="rect">
            <a:avLst/>
          </a:prstGeom>
        </p:spPr>
      </p:pic>
      <p:sp>
        <p:nvSpPr>
          <p:cNvPr id="5" name="Text 2"/>
          <p:cNvSpPr/>
          <p:nvPr/>
        </p:nvSpPr>
        <p:spPr>
          <a:xfrm>
            <a:off x="1142286" y="794861"/>
            <a:ext cx="4853702" cy="571619"/>
          </a:xfrm>
          <a:prstGeom prst="rect">
            <a:avLst/>
          </a:prstGeom>
          <a:noFill/>
          <a:ln/>
        </p:spPr>
        <p:txBody>
          <a:bodyPr wrap="none" rtlCol="0" anchor="t"/>
          <a:lstStyle/>
          <a:p>
            <a:pPr marL="0" indent="0">
              <a:lnSpc>
                <a:spcPts val="4501"/>
              </a:lnSpc>
              <a:buNone/>
            </a:pPr>
            <a:r>
              <a:rPr lang="en-US" sz="3601" b="1" dirty="0">
                <a:solidFill>
                  <a:srgbClr val="282824"/>
                </a:solidFill>
                <a:latin typeface="Lato" pitchFamily="34" charset="0"/>
                <a:ea typeface="Lato" pitchFamily="34" charset="-122"/>
                <a:cs typeface="Lato" pitchFamily="34" charset="-120"/>
              </a:rPr>
              <a:t>Restoration of an Image</a:t>
            </a:r>
            <a:endParaRPr lang="en-US" sz="3601" dirty="0"/>
          </a:p>
        </p:txBody>
      </p:sp>
      <p:pic>
        <p:nvPicPr>
          <p:cNvPr id="6" name="Image 1" descr="preencoded.png"/>
          <p:cNvPicPr>
            <a:picLocks noChangeAspect="1"/>
          </p:cNvPicPr>
          <p:nvPr/>
        </p:nvPicPr>
        <p:blipFill>
          <a:blip r:embed="rId4"/>
          <a:stretch>
            <a:fillRect/>
          </a:stretch>
        </p:blipFill>
        <p:spPr>
          <a:xfrm>
            <a:off x="1142286" y="1640800"/>
            <a:ext cx="914519" cy="1931313"/>
          </a:xfrm>
          <a:prstGeom prst="rect">
            <a:avLst/>
          </a:prstGeom>
        </p:spPr>
      </p:pic>
      <p:sp>
        <p:nvSpPr>
          <p:cNvPr id="7" name="Text 3"/>
          <p:cNvSpPr/>
          <p:nvPr/>
        </p:nvSpPr>
        <p:spPr>
          <a:xfrm>
            <a:off x="2331125" y="1823680"/>
            <a:ext cx="2286238" cy="285750"/>
          </a:xfrm>
          <a:prstGeom prst="rect">
            <a:avLst/>
          </a:prstGeom>
          <a:noFill/>
          <a:ln/>
        </p:spPr>
        <p:txBody>
          <a:bodyPr wrap="none" rtlCol="0" anchor="t"/>
          <a:lstStyle/>
          <a:p>
            <a:pPr marL="0" indent="0" algn="l">
              <a:lnSpc>
                <a:spcPts val="2250"/>
              </a:lnSpc>
              <a:buNone/>
            </a:pPr>
            <a:r>
              <a:rPr lang="en-US" sz="2000" b="1" dirty="0">
                <a:solidFill>
                  <a:srgbClr val="282824"/>
                </a:solidFill>
                <a:latin typeface="Lato" pitchFamily="34" charset="0"/>
                <a:ea typeface="Lato" pitchFamily="34" charset="-122"/>
                <a:cs typeface="Lato" pitchFamily="34" charset="-120"/>
              </a:rPr>
              <a:t>Simulates Motion Blur and Adds Noise</a:t>
            </a:r>
            <a:endParaRPr lang="en-US" sz="2000" dirty="0"/>
          </a:p>
        </p:txBody>
      </p:sp>
      <p:sp>
        <p:nvSpPr>
          <p:cNvPr id="8" name="Text 4"/>
          <p:cNvSpPr/>
          <p:nvPr/>
        </p:nvSpPr>
        <p:spPr>
          <a:xfrm>
            <a:off x="2331125" y="2219087"/>
            <a:ext cx="8340461" cy="1528282"/>
          </a:xfrm>
          <a:prstGeom prst="rect">
            <a:avLst/>
          </a:prstGeom>
          <a:noFill/>
          <a:ln/>
        </p:spPr>
        <p:txBody>
          <a:bodyPr wrap="square" rtlCol="0" anchor="t"/>
          <a:lstStyle/>
          <a:p>
            <a:pPr marL="0" indent="0" algn="l">
              <a:lnSpc>
                <a:spcPts val="2304"/>
              </a:lnSpc>
              <a:buNone/>
            </a:pPr>
            <a:r>
              <a:rPr lang="en-US" dirty="0">
                <a:solidFill>
                  <a:srgbClr val="4A4A45"/>
                </a:solidFill>
                <a:latin typeface="Lato" pitchFamily="34" charset="0"/>
                <a:ea typeface="Lato" pitchFamily="34" charset="-122"/>
                <a:cs typeface="Lato" pitchFamily="34" charset="-120"/>
              </a:rPr>
              <a:t>The code starts by reading an image from a URL and converting it to double precision. It then creates a motion blur filter using the `</a:t>
            </a:r>
            <a:r>
              <a:rPr lang="en-US" dirty="0" err="1">
                <a:solidFill>
                  <a:srgbClr val="4A4A45"/>
                </a:solidFill>
                <a:latin typeface="Lato" pitchFamily="34" charset="0"/>
                <a:ea typeface="Lato" pitchFamily="34" charset="-122"/>
                <a:cs typeface="Lato" pitchFamily="34" charset="-120"/>
              </a:rPr>
              <a:t>fspecial</a:t>
            </a:r>
            <a:r>
              <a:rPr lang="en-US" dirty="0">
                <a:solidFill>
                  <a:srgbClr val="4A4A45"/>
                </a:solidFill>
                <a:latin typeface="Lato" pitchFamily="34" charset="0"/>
                <a:ea typeface="Lato" pitchFamily="34" charset="-122"/>
                <a:cs typeface="Lato" pitchFamily="34" charset="-120"/>
              </a:rPr>
              <a:t>` function and applies this filter to the image using `</a:t>
            </a:r>
            <a:r>
              <a:rPr lang="en-US" dirty="0" err="1">
                <a:solidFill>
                  <a:srgbClr val="4A4A45"/>
                </a:solidFill>
                <a:latin typeface="Lato" pitchFamily="34" charset="0"/>
                <a:ea typeface="Lato" pitchFamily="34" charset="-122"/>
                <a:cs typeface="Lato" pitchFamily="34" charset="-120"/>
              </a:rPr>
              <a:t>imfilter</a:t>
            </a:r>
            <a:r>
              <a:rPr lang="en-US" dirty="0">
                <a:solidFill>
                  <a:srgbClr val="4A4A45"/>
                </a:solidFill>
                <a:latin typeface="Lato" pitchFamily="34" charset="0"/>
                <a:ea typeface="Lato" pitchFamily="34" charset="-122"/>
                <a:cs typeface="Lato" pitchFamily="34" charset="-120"/>
              </a:rPr>
              <a:t>`, simulating motion blur. Additionally, it adds Gaussian noise to the blurred image using `</a:t>
            </a:r>
            <a:r>
              <a:rPr lang="en-US" dirty="0" err="1">
                <a:solidFill>
                  <a:srgbClr val="4A4A45"/>
                </a:solidFill>
                <a:latin typeface="Lato" pitchFamily="34" charset="0"/>
                <a:ea typeface="Lato" pitchFamily="34" charset="-122"/>
                <a:cs typeface="Lato" pitchFamily="34" charset="-120"/>
              </a:rPr>
              <a:t>imnoise</a:t>
            </a:r>
            <a:r>
              <a:rPr lang="en-US" dirty="0">
                <a:solidFill>
                  <a:srgbClr val="4A4A45"/>
                </a:solidFill>
                <a:latin typeface="Lato" pitchFamily="34" charset="0"/>
                <a:ea typeface="Lato" pitchFamily="34" charset="-122"/>
                <a:cs typeface="Lato" pitchFamily="34" charset="-120"/>
              </a:rPr>
              <a:t>`.</a:t>
            </a:r>
          </a:p>
        </p:txBody>
      </p:sp>
      <p:pic>
        <p:nvPicPr>
          <p:cNvPr id="9" name="Image 2" descr="preencoded.png"/>
          <p:cNvPicPr>
            <a:picLocks noChangeAspect="1"/>
          </p:cNvPicPr>
          <p:nvPr/>
        </p:nvPicPr>
        <p:blipFill>
          <a:blip r:embed="rId5"/>
          <a:stretch>
            <a:fillRect/>
          </a:stretch>
        </p:blipFill>
        <p:spPr>
          <a:xfrm>
            <a:off x="1142286" y="3572113"/>
            <a:ext cx="914519" cy="1931313"/>
          </a:xfrm>
          <a:prstGeom prst="rect">
            <a:avLst/>
          </a:prstGeom>
        </p:spPr>
      </p:pic>
      <p:sp>
        <p:nvSpPr>
          <p:cNvPr id="10" name="Text 5"/>
          <p:cNvSpPr/>
          <p:nvPr/>
        </p:nvSpPr>
        <p:spPr>
          <a:xfrm>
            <a:off x="2331125" y="3800716"/>
            <a:ext cx="3772885" cy="404384"/>
          </a:xfrm>
          <a:prstGeom prst="rect">
            <a:avLst/>
          </a:prstGeom>
          <a:noFill/>
          <a:ln/>
        </p:spPr>
        <p:txBody>
          <a:bodyPr wrap="none" rtlCol="0" anchor="t"/>
          <a:lstStyle/>
          <a:p>
            <a:pPr marL="0" indent="0" algn="l">
              <a:lnSpc>
                <a:spcPts val="2250"/>
              </a:lnSpc>
              <a:buNone/>
            </a:pPr>
            <a:r>
              <a:rPr lang="en-US" sz="2000" b="1" dirty="0">
                <a:solidFill>
                  <a:srgbClr val="282824"/>
                </a:solidFill>
                <a:latin typeface="Lato" pitchFamily="34" charset="0"/>
                <a:ea typeface="Lato" pitchFamily="34" charset="-122"/>
                <a:cs typeface="Lato" pitchFamily="34" charset="-120"/>
              </a:rPr>
              <a:t>Wiener Filtering for Restoration</a:t>
            </a:r>
            <a:endParaRPr lang="en-US" sz="2000" dirty="0"/>
          </a:p>
        </p:txBody>
      </p:sp>
      <p:sp>
        <p:nvSpPr>
          <p:cNvPr id="11" name="Text 6"/>
          <p:cNvSpPr/>
          <p:nvPr/>
        </p:nvSpPr>
        <p:spPr>
          <a:xfrm>
            <a:off x="2278457" y="4157326"/>
            <a:ext cx="8480310" cy="1601986"/>
          </a:xfrm>
          <a:prstGeom prst="rect">
            <a:avLst/>
          </a:prstGeom>
          <a:noFill/>
          <a:ln/>
        </p:spPr>
        <p:txBody>
          <a:bodyPr wrap="square" rtlCol="0" anchor="t"/>
          <a:lstStyle/>
          <a:p>
            <a:pPr marL="0" indent="0" algn="l">
              <a:lnSpc>
                <a:spcPts val="2304"/>
              </a:lnSpc>
              <a:buNone/>
            </a:pPr>
            <a:r>
              <a:rPr lang="en-US" dirty="0">
                <a:solidFill>
                  <a:srgbClr val="4A4A45"/>
                </a:solidFill>
                <a:latin typeface="Lato" pitchFamily="34" charset="0"/>
                <a:ea typeface="Lato" pitchFamily="34" charset="-122"/>
                <a:cs typeface="Lato" pitchFamily="34" charset="-120"/>
              </a:rPr>
              <a:t>Converts the noisy, blurred image to the frequency domain using the 2D Fourier Transform (`fft2`). It then constructs a Wiener filter based on the motion blur filter in the frequency domain, taking into account a small constant `epsilon` to avoid division by zero. This Wiener filter is applied to the frequency domain representation of the noisy, blurred image to suppress the effects of both noise and blur.</a:t>
            </a:r>
            <a:endParaRPr lang="en-US" dirty="0"/>
          </a:p>
        </p:txBody>
      </p:sp>
      <p:pic>
        <p:nvPicPr>
          <p:cNvPr id="12" name="Image 3" descr="preencoded.png"/>
          <p:cNvPicPr>
            <a:picLocks noChangeAspect="1"/>
          </p:cNvPicPr>
          <p:nvPr/>
        </p:nvPicPr>
        <p:blipFill>
          <a:blip r:embed="rId6"/>
          <a:stretch>
            <a:fillRect/>
          </a:stretch>
        </p:blipFill>
        <p:spPr>
          <a:xfrm>
            <a:off x="1142286" y="5503426"/>
            <a:ext cx="914519" cy="1931313"/>
          </a:xfrm>
          <a:prstGeom prst="rect">
            <a:avLst/>
          </a:prstGeom>
        </p:spPr>
      </p:pic>
      <p:sp>
        <p:nvSpPr>
          <p:cNvPr id="13" name="Text 7"/>
          <p:cNvSpPr/>
          <p:nvPr/>
        </p:nvSpPr>
        <p:spPr>
          <a:xfrm>
            <a:off x="2246351" y="6075402"/>
            <a:ext cx="3657599" cy="404385"/>
          </a:xfrm>
          <a:prstGeom prst="rect">
            <a:avLst/>
          </a:prstGeom>
          <a:noFill/>
          <a:ln/>
        </p:spPr>
        <p:txBody>
          <a:bodyPr wrap="none" rtlCol="0" anchor="t"/>
          <a:lstStyle/>
          <a:p>
            <a:pPr marL="0" indent="0" algn="l">
              <a:lnSpc>
                <a:spcPts val="2250"/>
              </a:lnSpc>
              <a:buNone/>
            </a:pPr>
            <a:r>
              <a:rPr lang="en-US" sz="2000" b="1" dirty="0">
                <a:latin typeface="Lato" panose="020F0502020204030203" pitchFamily="34" charset="0"/>
                <a:ea typeface="Lato" panose="020F0502020204030203" pitchFamily="34" charset="0"/>
                <a:cs typeface="Lato" panose="020F0502020204030203" pitchFamily="34" charset="0"/>
              </a:rPr>
              <a:t>Restores and Evaluates the Image</a:t>
            </a:r>
          </a:p>
        </p:txBody>
      </p:sp>
      <p:sp>
        <p:nvSpPr>
          <p:cNvPr id="14" name="Text 8"/>
          <p:cNvSpPr/>
          <p:nvPr/>
        </p:nvSpPr>
        <p:spPr>
          <a:xfrm>
            <a:off x="2246352" y="6405919"/>
            <a:ext cx="8480310" cy="1507591"/>
          </a:xfrm>
          <a:prstGeom prst="rect">
            <a:avLst/>
          </a:prstGeom>
          <a:noFill/>
          <a:ln/>
        </p:spPr>
        <p:txBody>
          <a:bodyPr wrap="square" rtlCol="0" anchor="t"/>
          <a:lstStyle/>
          <a:p>
            <a:pPr marL="0" indent="0" algn="l">
              <a:lnSpc>
                <a:spcPts val="2304"/>
              </a:lnSpc>
              <a:buNone/>
            </a:pPr>
            <a:r>
              <a:rPr lang="en-US" dirty="0">
                <a:solidFill>
                  <a:srgbClr val="4A4A45"/>
                </a:solidFill>
                <a:latin typeface="Lato" pitchFamily="34" charset="0"/>
                <a:ea typeface="Lato" pitchFamily="34" charset="-122"/>
                <a:cs typeface="Lato" pitchFamily="34" charset="-120"/>
              </a:rPr>
              <a:t>The filtered frequency domain image is transformed back to the spatial domain using the inverse 2D Fourier Transform (`ifft2`). The restored image is then converted to real values and displayed. Finally, the code calculates the Mean Squared Error (MSE) between the original and restored images using `</a:t>
            </a:r>
            <a:r>
              <a:rPr lang="en-US" dirty="0" err="1">
                <a:solidFill>
                  <a:srgbClr val="4A4A45"/>
                </a:solidFill>
                <a:latin typeface="Lato" pitchFamily="34" charset="0"/>
                <a:ea typeface="Lato" pitchFamily="34" charset="-122"/>
                <a:cs typeface="Lato" pitchFamily="34" charset="-120"/>
              </a:rPr>
              <a:t>immse</a:t>
            </a:r>
            <a:r>
              <a:rPr lang="en-US" dirty="0">
                <a:solidFill>
                  <a:srgbClr val="4A4A45"/>
                </a:solidFill>
                <a:latin typeface="Lato" pitchFamily="34" charset="0"/>
                <a:ea typeface="Lato" pitchFamily="34" charset="-122"/>
                <a:cs typeface="Lato" pitchFamily="34" charset="-120"/>
              </a:rPr>
              <a:t>`, providing a quantitative measure of the restoration quality.</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
        <p:nvSpPr>
          <p:cNvPr id="4" name="Text 2"/>
          <p:cNvSpPr/>
          <p:nvPr/>
        </p:nvSpPr>
        <p:spPr>
          <a:xfrm>
            <a:off x="1375892" y="943025"/>
            <a:ext cx="6601897" cy="665321"/>
          </a:xfrm>
          <a:prstGeom prst="rect">
            <a:avLst/>
          </a:prstGeom>
          <a:noFill/>
          <a:ln/>
        </p:spPr>
        <p:txBody>
          <a:bodyPr wrap="none" rtlCol="0" anchor="t"/>
          <a:lstStyle/>
          <a:p>
            <a:pPr marL="0" indent="0">
              <a:lnSpc>
                <a:spcPts val="5239"/>
              </a:lnSpc>
              <a:buNone/>
            </a:pPr>
            <a:r>
              <a:rPr lang="en-US" sz="4192" b="1" dirty="0">
                <a:solidFill>
                  <a:srgbClr val="282824"/>
                </a:solidFill>
                <a:latin typeface="Lato" pitchFamily="34" charset="0"/>
                <a:ea typeface="Lato" pitchFamily="34" charset="-122"/>
                <a:cs typeface="Lato" pitchFamily="34" charset="-120"/>
              </a:rPr>
              <a:t>Feature Extraction of Image</a:t>
            </a:r>
            <a:endParaRPr lang="en-US" sz="4192" dirty="0"/>
          </a:p>
        </p:txBody>
      </p:sp>
      <p:sp>
        <p:nvSpPr>
          <p:cNvPr id="7" name="Text 4"/>
          <p:cNvSpPr/>
          <p:nvPr/>
        </p:nvSpPr>
        <p:spPr>
          <a:xfrm>
            <a:off x="1097280" y="2194967"/>
            <a:ext cx="11381590" cy="5448012"/>
          </a:xfrm>
          <a:prstGeom prst="rect">
            <a:avLst/>
          </a:prstGeom>
          <a:noFill/>
          <a:ln/>
        </p:spPr>
        <p:txBody>
          <a:bodyPr wrap="square" rtlCol="0" anchor="t"/>
          <a:lstStyle/>
          <a:p>
            <a:pPr marL="342900" indent="-342900" algn="l">
              <a:lnSpc>
                <a:spcPts val="2683"/>
              </a:lnSpc>
              <a:buFont typeface="Arial" panose="020B0604020202020204" pitchFamily="34" charset="0"/>
              <a:buChar char="•"/>
            </a:pPr>
            <a:endParaRPr lang="en-US" sz="2000" dirty="0">
              <a:solidFill>
                <a:srgbClr val="4A4A45"/>
              </a:solidFill>
              <a:latin typeface="Lato" pitchFamily="34" charset="0"/>
              <a:ea typeface="Lato" pitchFamily="34" charset="-122"/>
              <a:cs typeface="Lato" pitchFamily="34" charset="-120"/>
            </a:endParaRPr>
          </a:p>
          <a:p>
            <a:pPr marL="342900" indent="-342900" algn="l">
              <a:lnSpc>
                <a:spcPts val="2683"/>
              </a:lnSpc>
              <a:buFont typeface="Arial" panose="020B0604020202020204" pitchFamily="34" charset="0"/>
              <a:buChar char="•"/>
            </a:pPr>
            <a:r>
              <a:rPr lang="en-US" sz="2000" dirty="0">
                <a:solidFill>
                  <a:srgbClr val="4A4A45"/>
                </a:solidFill>
                <a:latin typeface="Lato" pitchFamily="34" charset="0"/>
                <a:ea typeface="Lato" pitchFamily="34" charset="-122"/>
                <a:cs typeface="Lato" pitchFamily="34" charset="-120"/>
              </a:rPr>
              <a:t>Transformation: Converts an image from the spatial domain to the frequency domain, revealing frequency components.</a:t>
            </a:r>
          </a:p>
          <a:p>
            <a:pPr marL="342900" indent="-342900" algn="l">
              <a:lnSpc>
                <a:spcPts val="2683"/>
              </a:lnSpc>
              <a:buFont typeface="Arial" panose="020B0604020202020204" pitchFamily="34" charset="0"/>
              <a:buChar char="•"/>
            </a:pPr>
            <a:endParaRPr lang="en-US" sz="2000" dirty="0">
              <a:solidFill>
                <a:srgbClr val="4A4A45"/>
              </a:solidFill>
              <a:latin typeface="Lato" pitchFamily="34" charset="0"/>
              <a:ea typeface="Lato" pitchFamily="34" charset="-122"/>
              <a:cs typeface="Lato" pitchFamily="34" charset="-120"/>
            </a:endParaRPr>
          </a:p>
          <a:p>
            <a:pPr marL="342900" indent="-342900" algn="l">
              <a:lnSpc>
                <a:spcPts val="2683"/>
              </a:lnSpc>
              <a:buFont typeface="Arial" panose="020B0604020202020204" pitchFamily="34" charset="0"/>
              <a:buChar char="•"/>
            </a:pPr>
            <a:r>
              <a:rPr lang="en-US" sz="2000" dirty="0">
                <a:solidFill>
                  <a:srgbClr val="4A4A45"/>
                </a:solidFill>
                <a:latin typeface="Lato" pitchFamily="34" charset="0"/>
                <a:ea typeface="Lato" pitchFamily="34" charset="-122"/>
                <a:cs typeface="Lato" pitchFamily="34" charset="-120"/>
              </a:rPr>
              <a:t>Feature Identification: Helps identify and manipulate patterns, textures, and features not visible in the spatial domain.</a:t>
            </a:r>
          </a:p>
          <a:p>
            <a:pPr marL="342900" indent="-342900" algn="l">
              <a:lnSpc>
                <a:spcPts val="2683"/>
              </a:lnSpc>
              <a:buFont typeface="Arial" panose="020B0604020202020204" pitchFamily="34" charset="0"/>
              <a:buChar char="•"/>
            </a:pPr>
            <a:endParaRPr lang="en-US" sz="2000" dirty="0">
              <a:solidFill>
                <a:srgbClr val="4A4A45"/>
              </a:solidFill>
              <a:latin typeface="Lato" pitchFamily="34" charset="0"/>
              <a:ea typeface="Lato" pitchFamily="34" charset="-122"/>
              <a:cs typeface="Lato" pitchFamily="34" charset="-120"/>
            </a:endParaRPr>
          </a:p>
          <a:p>
            <a:pPr marL="342900" indent="-342900" algn="l">
              <a:lnSpc>
                <a:spcPts val="2683"/>
              </a:lnSpc>
              <a:buFont typeface="Arial" panose="020B0604020202020204" pitchFamily="34" charset="0"/>
              <a:buChar char="•"/>
            </a:pPr>
            <a:r>
              <a:rPr lang="en-US" sz="2000" dirty="0">
                <a:solidFill>
                  <a:srgbClr val="4A4A45"/>
                </a:solidFill>
                <a:latin typeface="Lato" pitchFamily="34" charset="0"/>
                <a:ea typeface="Lato" pitchFamily="34" charset="-122"/>
                <a:cs typeface="Lato" pitchFamily="34" charset="-120"/>
              </a:rPr>
              <a:t> Efficient Extraction: Facilitates efficient feature extraction, such as edge detection, noise reduction, and image compression.</a:t>
            </a:r>
          </a:p>
          <a:p>
            <a:pPr marL="342900" indent="-342900" algn="l">
              <a:lnSpc>
                <a:spcPts val="2683"/>
              </a:lnSpc>
              <a:buFont typeface="Arial" panose="020B0604020202020204" pitchFamily="34" charset="0"/>
              <a:buChar char="•"/>
            </a:pPr>
            <a:endParaRPr lang="en-US" sz="2000" dirty="0">
              <a:solidFill>
                <a:srgbClr val="4A4A45"/>
              </a:solidFill>
              <a:latin typeface="Lato" pitchFamily="34" charset="0"/>
              <a:ea typeface="Lato" pitchFamily="34" charset="-122"/>
              <a:cs typeface="Lato" pitchFamily="34" charset="-120"/>
            </a:endParaRPr>
          </a:p>
          <a:p>
            <a:pPr marL="342900" indent="-342900" algn="l">
              <a:lnSpc>
                <a:spcPts val="2683"/>
              </a:lnSpc>
              <a:buFont typeface="Arial" panose="020B0604020202020204" pitchFamily="34" charset="0"/>
              <a:buChar char="•"/>
            </a:pPr>
            <a:r>
              <a:rPr lang="en-US" sz="2000" dirty="0">
                <a:solidFill>
                  <a:srgbClr val="4A4A45"/>
                </a:solidFill>
                <a:latin typeface="Lato" pitchFamily="34" charset="0"/>
                <a:ea typeface="Lato" pitchFamily="34" charset="-122"/>
                <a:cs typeface="Lato" pitchFamily="34" charset="-120"/>
              </a:rPr>
              <a:t>Frequency Components: High-frequency components correspond to edges and fine details, while low-frequency components represent overall structure and smooth areas.</a:t>
            </a:r>
          </a:p>
          <a:p>
            <a:pPr marL="342900" indent="-342900" algn="l">
              <a:lnSpc>
                <a:spcPts val="2683"/>
              </a:lnSpc>
              <a:buFont typeface="Arial" panose="020B0604020202020204" pitchFamily="34" charset="0"/>
              <a:buChar char="•"/>
            </a:pPr>
            <a:endParaRPr lang="en-US" sz="2000" dirty="0">
              <a:solidFill>
                <a:srgbClr val="4A4A45"/>
              </a:solidFill>
              <a:latin typeface="Lato" pitchFamily="34" charset="0"/>
              <a:ea typeface="Lato" pitchFamily="34" charset="-122"/>
              <a:cs typeface="Lato" pitchFamily="34" charset="-120"/>
            </a:endParaRPr>
          </a:p>
          <a:p>
            <a:pPr marL="342900" indent="-342900" algn="l">
              <a:lnSpc>
                <a:spcPts val="2683"/>
              </a:lnSpc>
              <a:buFont typeface="Arial" panose="020B0604020202020204" pitchFamily="34" charset="0"/>
              <a:buChar char="•"/>
            </a:pPr>
            <a:r>
              <a:rPr lang="en-US" sz="2000" dirty="0">
                <a:solidFill>
                  <a:srgbClr val="4A4A45"/>
                </a:solidFill>
                <a:latin typeface="Lato" pitchFamily="34" charset="0"/>
                <a:ea typeface="Lato" pitchFamily="34" charset="-122"/>
                <a:cs typeface="Lato" pitchFamily="34" charset="-120"/>
              </a:rPr>
              <a:t>Enhancement and Suppression: Allows for targeted enhancement or suppression of features by focusing on specific frequency ranges.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
        <p:nvSpPr>
          <p:cNvPr id="4" name="Text 2"/>
          <p:cNvSpPr/>
          <p:nvPr/>
        </p:nvSpPr>
        <p:spPr>
          <a:xfrm>
            <a:off x="2037993" y="1128355"/>
            <a:ext cx="8264247" cy="694373"/>
          </a:xfrm>
          <a:prstGeom prst="rect">
            <a:avLst/>
          </a:prstGeom>
          <a:noFill/>
          <a:ln/>
        </p:spPr>
        <p:txBody>
          <a:bodyPr wrap="none" rtlCol="0" anchor="t"/>
          <a:lstStyle/>
          <a:p>
            <a:pPr marL="0" indent="0">
              <a:lnSpc>
                <a:spcPts val="5468"/>
              </a:lnSpc>
              <a:buNone/>
            </a:pPr>
            <a:r>
              <a:rPr lang="en-US" sz="4374" b="1" dirty="0">
                <a:solidFill>
                  <a:srgbClr val="282824"/>
                </a:solidFill>
                <a:latin typeface="Lato" pitchFamily="34" charset="0"/>
                <a:ea typeface="Lato" pitchFamily="34" charset="-122"/>
                <a:cs typeface="Lato" pitchFamily="34" charset="-120"/>
              </a:rPr>
              <a:t>Conclusion </a:t>
            </a:r>
            <a:endParaRPr lang="en-US" sz="4374" dirty="0"/>
          </a:p>
        </p:txBody>
      </p:sp>
      <p:sp>
        <p:nvSpPr>
          <p:cNvPr id="5" name="Shape 3"/>
          <p:cNvSpPr/>
          <p:nvPr/>
        </p:nvSpPr>
        <p:spPr>
          <a:xfrm>
            <a:off x="2037993" y="2267069"/>
            <a:ext cx="5166122" cy="4834176"/>
          </a:xfrm>
          <a:prstGeom prst="roundRect">
            <a:avLst>
              <a:gd name="adj" fmla="val 2758"/>
            </a:avLst>
          </a:prstGeom>
          <a:solidFill>
            <a:srgbClr val="E1DBD0"/>
          </a:solidFill>
          <a:ln/>
        </p:spPr>
      </p:sp>
      <p:sp>
        <p:nvSpPr>
          <p:cNvPr id="6" name="Text 4"/>
          <p:cNvSpPr/>
          <p:nvPr/>
        </p:nvSpPr>
        <p:spPr>
          <a:xfrm>
            <a:off x="2260163" y="2489240"/>
            <a:ext cx="2777490" cy="347186"/>
          </a:xfrm>
          <a:prstGeom prst="rect">
            <a:avLst/>
          </a:prstGeom>
          <a:noFill/>
          <a:ln/>
        </p:spPr>
        <p:txBody>
          <a:bodyPr wrap="none" rtlCol="0" anchor="t"/>
          <a:lstStyle/>
          <a:p>
            <a:pPr marL="0" indent="0">
              <a:lnSpc>
                <a:spcPts val="2734"/>
              </a:lnSpc>
              <a:buNone/>
            </a:pPr>
            <a:r>
              <a:rPr lang="en-US" sz="2187" b="1" dirty="0">
                <a:solidFill>
                  <a:srgbClr val="282824"/>
                </a:solidFill>
                <a:latin typeface="Lato" pitchFamily="34" charset="0"/>
                <a:ea typeface="Lato" pitchFamily="34" charset="-122"/>
                <a:cs typeface="Lato" pitchFamily="34" charset="-120"/>
              </a:rPr>
              <a:t>Conclusion</a:t>
            </a:r>
            <a:endParaRPr lang="en-US" sz="2187" dirty="0"/>
          </a:p>
        </p:txBody>
      </p:sp>
      <p:sp>
        <p:nvSpPr>
          <p:cNvPr id="7" name="Text 5"/>
          <p:cNvSpPr/>
          <p:nvPr/>
        </p:nvSpPr>
        <p:spPr>
          <a:xfrm>
            <a:off x="2260163" y="2969656"/>
            <a:ext cx="4721781" cy="3721599"/>
          </a:xfrm>
          <a:prstGeom prst="rect">
            <a:avLst/>
          </a:prstGeom>
          <a:noFill/>
          <a:ln/>
        </p:spPr>
        <p:txBody>
          <a:bodyPr wrap="square" rtlCol="0" anchor="t"/>
          <a:lstStyle/>
          <a:p>
            <a:pPr marL="0" indent="0">
              <a:lnSpc>
                <a:spcPts val="2799"/>
              </a:lnSpc>
              <a:buNone/>
            </a:pPr>
            <a:r>
              <a:rPr lang="en-US" sz="1750" dirty="0">
                <a:solidFill>
                  <a:srgbClr val="4A4A45"/>
                </a:solidFill>
                <a:latin typeface="Lato" pitchFamily="34" charset="0"/>
                <a:ea typeface="Lato" pitchFamily="34" charset="-122"/>
                <a:cs typeface="Lato" pitchFamily="34" charset="-120"/>
              </a:rPr>
              <a:t>The Fourier transform has revolutionized the field of image processing, providing a powerful tool for tackling a wide range of challenges, from image compression and enhancement to restoration and feature extraction. By leveraging the frequency-domain insights, researchers and practitioners can develop innovative solutions that push the boundaries of what is possible in digital image processing.</a:t>
            </a:r>
            <a:endParaRPr lang="en-US" sz="1750" dirty="0"/>
          </a:p>
        </p:txBody>
      </p:sp>
      <p:sp>
        <p:nvSpPr>
          <p:cNvPr id="8" name="Shape 6"/>
          <p:cNvSpPr/>
          <p:nvPr/>
        </p:nvSpPr>
        <p:spPr>
          <a:xfrm>
            <a:off x="7426285" y="2267069"/>
            <a:ext cx="5166122" cy="4834176"/>
          </a:xfrm>
          <a:prstGeom prst="roundRect">
            <a:avLst>
              <a:gd name="adj" fmla="val 2758"/>
            </a:avLst>
          </a:prstGeom>
          <a:solidFill>
            <a:srgbClr val="E1DBD0"/>
          </a:solidFill>
          <a:ln/>
        </p:spPr>
      </p:sp>
      <p:sp>
        <p:nvSpPr>
          <p:cNvPr id="9" name="Text 7"/>
          <p:cNvSpPr/>
          <p:nvPr/>
        </p:nvSpPr>
        <p:spPr>
          <a:xfrm>
            <a:off x="7648456" y="2489240"/>
            <a:ext cx="2777490" cy="347186"/>
          </a:xfrm>
          <a:prstGeom prst="rect">
            <a:avLst/>
          </a:prstGeom>
          <a:noFill/>
          <a:ln/>
        </p:spPr>
        <p:txBody>
          <a:bodyPr wrap="none" rtlCol="0" anchor="t"/>
          <a:lstStyle/>
          <a:p>
            <a:pPr marL="0" indent="0">
              <a:lnSpc>
                <a:spcPts val="2734"/>
              </a:lnSpc>
              <a:buNone/>
            </a:pPr>
            <a:r>
              <a:rPr lang="en-US" sz="2187" b="1" dirty="0">
                <a:solidFill>
                  <a:srgbClr val="282824"/>
                </a:solidFill>
                <a:latin typeface="Lato" pitchFamily="34" charset="0"/>
                <a:ea typeface="Lato" pitchFamily="34" charset="-122"/>
                <a:cs typeface="Lato" pitchFamily="34" charset="-120"/>
              </a:rPr>
              <a:t>Future Directions</a:t>
            </a:r>
            <a:endParaRPr lang="en-US" sz="2187" dirty="0"/>
          </a:p>
        </p:txBody>
      </p:sp>
      <p:sp>
        <p:nvSpPr>
          <p:cNvPr id="10" name="Text 8"/>
          <p:cNvSpPr/>
          <p:nvPr/>
        </p:nvSpPr>
        <p:spPr>
          <a:xfrm>
            <a:off x="7648456" y="2969657"/>
            <a:ext cx="4721781" cy="3909417"/>
          </a:xfrm>
          <a:prstGeom prst="rect">
            <a:avLst/>
          </a:prstGeom>
          <a:noFill/>
          <a:ln/>
        </p:spPr>
        <p:txBody>
          <a:bodyPr wrap="square" rtlCol="0" anchor="t"/>
          <a:lstStyle/>
          <a:p>
            <a:pPr marL="0" indent="0">
              <a:lnSpc>
                <a:spcPts val="2799"/>
              </a:lnSpc>
              <a:buNone/>
            </a:pPr>
            <a:r>
              <a:rPr lang="en-US" sz="1750" dirty="0">
                <a:solidFill>
                  <a:srgbClr val="4A4A45"/>
                </a:solidFill>
                <a:latin typeface="Lato" pitchFamily="34" charset="0"/>
                <a:ea typeface="Lato" pitchFamily="34" charset="-122"/>
                <a:cs typeface="Lato" pitchFamily="34" charset="-120"/>
              </a:rPr>
              <a:t>As technology continues to evolve, the applications of the Fourier transform in image processing are likely to expand even further. Potential future directions include the integration of Fourier-based techniques with deep learning algorithms, the exploration of higher-dimensional Fourier transforms for 3D and volumetric image data, and the development of real-time Fourier-based image processing for applications in fields such as autonomous systems and video analytics.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1950</TotalTime>
  <Words>1067</Words>
  <Application>Microsoft Office PowerPoint</Application>
  <PresentationFormat>Custom</PresentationFormat>
  <Paragraphs>71</Paragraphs>
  <Slides>8</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Nareen Babu</cp:lastModifiedBy>
  <cp:revision>10</cp:revision>
  <dcterms:created xsi:type="dcterms:W3CDTF">2024-06-02T18:16:00Z</dcterms:created>
  <dcterms:modified xsi:type="dcterms:W3CDTF">2024-06-04T12:34:51Z</dcterms:modified>
</cp:coreProperties>
</file>