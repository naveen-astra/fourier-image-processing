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62" r:id="rId3"/>
    <p:sldId id="257" r:id="rId4"/>
    <p:sldId id="258" r:id="rId5"/>
    <p:sldId id="259" r:id="rId6"/>
    <p:sldId id="260" r:id="rId7"/>
    <p:sldId id="261" r:id="rId8"/>
  </p:sld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488" autoAdjust="0"/>
    <p:restoredTop sz="94610"/>
  </p:normalViewPr>
  <p:slideViewPr>
    <p:cSldViewPr snapToGrid="0" snapToObjects="1">
      <p:cViewPr varScale="1">
        <p:scale>
          <a:sx n="71" d="100"/>
          <a:sy n="71" d="100"/>
        </p:scale>
        <p:origin x="384"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285401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dirty="0"/>
          </a:p>
        </p:txBody>
      </p:sp>
    </p:spTree>
    <p:extLst>
      <p:ext uri="{BB962C8B-B14F-4D97-AF65-F5344CB8AC3E}">
        <p14:creationId xmlns:p14="http://schemas.microsoft.com/office/powerpoint/2010/main" val="28625944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dirty="0"/>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hyperlink" Target="https://uk.mathworks.com/help/images/fourier-transform.html"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hyperlink" Target="https://www.cs.unm.edu/~brayer/vision/fourier.html" TargetMode="External"/><Relationship Id="rId5" Type="http://schemas.openxmlformats.org/officeDocument/2006/relationships/hyperlink" Target="https://www.sci.utah.edu/~gerig/CS6640-F2014/Materials/CS6640_F2014_Fourier_I.pdf" TargetMode="External"/><Relationship Id="rId4" Type="http://schemas.openxmlformats.org/officeDocument/2006/relationships/hyperlink" Target="https://vincmazet.github.io/bip/filtering/fourier.html"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4648200"/>
          </a:xfrm>
          <a:prstGeom prst="rect">
            <a:avLst/>
          </a:prstGeom>
          <a:solidFill>
            <a:srgbClr val="1D1D1B"/>
          </a:solidFill>
          <a:ln/>
        </p:spPr>
      </p:sp>
      <p:sp>
        <p:nvSpPr>
          <p:cNvPr id="5" name="Text 2"/>
          <p:cNvSpPr/>
          <p:nvPr/>
        </p:nvSpPr>
        <p:spPr>
          <a:xfrm>
            <a:off x="3361245" y="2049731"/>
            <a:ext cx="7477601" cy="2161310"/>
          </a:xfrm>
          <a:prstGeom prst="rect">
            <a:avLst/>
          </a:prstGeom>
          <a:noFill/>
          <a:ln/>
        </p:spPr>
        <p:txBody>
          <a:bodyPr wrap="square" rtlCol="0" anchor="t"/>
          <a:lstStyle/>
          <a:p>
            <a:pPr marL="0" indent="0" algn="ctr">
              <a:lnSpc>
                <a:spcPts val="6561"/>
              </a:lnSpc>
              <a:buNone/>
            </a:pPr>
            <a:r>
              <a:rPr lang="en-US" sz="5249" b="1" dirty="0">
                <a:solidFill>
                  <a:srgbClr val="EDEDE8"/>
                </a:solidFill>
                <a:latin typeface="Tomorrow" pitchFamily="34" charset="0"/>
                <a:ea typeface="Tomorrow" pitchFamily="34" charset="-122"/>
                <a:cs typeface="Tomorrow" pitchFamily="34" charset="-120"/>
              </a:rPr>
              <a:t>Fourier Transformation in Image Processing</a:t>
            </a:r>
            <a:endParaRPr lang="en-US" sz="5249" dirty="0"/>
          </a:p>
        </p:txBody>
      </p:sp>
      <p:sp>
        <p:nvSpPr>
          <p:cNvPr id="6" name="Text 3"/>
          <p:cNvSpPr/>
          <p:nvPr/>
        </p:nvSpPr>
        <p:spPr>
          <a:xfrm>
            <a:off x="833199" y="4287322"/>
            <a:ext cx="7477601" cy="2487811"/>
          </a:xfrm>
          <a:prstGeom prst="rect">
            <a:avLst/>
          </a:prstGeom>
          <a:noFill/>
          <a:ln/>
        </p:spPr>
        <p:txBody>
          <a:bodyPr wrap="square" rtlCol="0" anchor="t"/>
          <a:lstStyle/>
          <a:p>
            <a:pPr marL="0" indent="0">
              <a:lnSpc>
                <a:spcPts val="2799"/>
              </a:lnSpc>
              <a:buNone/>
            </a:pPr>
            <a:endParaRPr lang="en-US" sz="1750" dirty="0"/>
          </a:p>
        </p:txBody>
      </p:sp>
      <p:sp>
        <p:nvSpPr>
          <p:cNvPr id="14" name="TextBox 13">
            <a:extLst>
              <a:ext uri="{FF2B5EF4-FFF2-40B4-BE49-F238E27FC236}">
                <a16:creationId xmlns:a16="http://schemas.microsoft.com/office/drawing/2014/main" id="{51151429-3C8A-83D4-4158-2E3B6725D9BD}"/>
              </a:ext>
            </a:extLst>
          </p:cNvPr>
          <p:cNvSpPr txBox="1"/>
          <p:nvPr/>
        </p:nvSpPr>
        <p:spPr>
          <a:xfrm>
            <a:off x="1699709" y="188469"/>
            <a:ext cx="12091596" cy="1323439"/>
          </a:xfrm>
          <a:prstGeom prst="rect">
            <a:avLst/>
          </a:prstGeom>
          <a:noFill/>
        </p:spPr>
        <p:txBody>
          <a:bodyPr wrap="square" rtlCol="0">
            <a:spAutoFit/>
          </a:bodyPr>
          <a:lstStyle/>
          <a:p>
            <a:pPr algn="ctr"/>
            <a:r>
              <a:rPr lang="en-IN" sz="5250" dirty="0">
                <a:solidFill>
                  <a:schemeClr val="bg1"/>
                </a:solidFill>
                <a:latin typeface="Aharoni" panose="02010803020104030203" pitchFamily="2" charset="-79"/>
                <a:cs typeface="Aharoni" panose="02010803020104030203" pitchFamily="2" charset="-79"/>
              </a:rPr>
              <a:t>MATHEMATICS FOR COMPUTING – </a:t>
            </a:r>
            <a:r>
              <a:rPr lang="en-IN" sz="8000" dirty="0">
                <a:solidFill>
                  <a:schemeClr val="bg1"/>
                </a:solidFill>
                <a:latin typeface="Aharoni" panose="02010803020104030203" pitchFamily="2" charset="-79"/>
                <a:cs typeface="Aharoni" panose="02010803020104030203" pitchFamily="2" charset="-79"/>
              </a:rPr>
              <a:t>2</a:t>
            </a:r>
            <a:endParaRPr lang="en-IN" sz="5250" dirty="0">
              <a:solidFill>
                <a:schemeClr val="bg1"/>
              </a:solidFill>
              <a:latin typeface="Tomorrow"/>
            </a:endParaRPr>
          </a:p>
        </p:txBody>
      </p:sp>
      <p:sp>
        <p:nvSpPr>
          <p:cNvPr id="16" name="TextBox 15">
            <a:extLst>
              <a:ext uri="{FF2B5EF4-FFF2-40B4-BE49-F238E27FC236}">
                <a16:creationId xmlns:a16="http://schemas.microsoft.com/office/drawing/2014/main" id="{7FABE4DC-BCE8-0719-42A1-B7B2774EA7F8}"/>
              </a:ext>
            </a:extLst>
          </p:cNvPr>
          <p:cNvSpPr txBox="1"/>
          <p:nvPr/>
        </p:nvSpPr>
        <p:spPr>
          <a:xfrm>
            <a:off x="3722146" y="5036026"/>
            <a:ext cx="7186108" cy="2400657"/>
          </a:xfrm>
          <a:prstGeom prst="rect">
            <a:avLst/>
          </a:prstGeom>
          <a:noFill/>
        </p:spPr>
        <p:txBody>
          <a:bodyPr wrap="square" rtlCol="0">
            <a:spAutoFit/>
          </a:bodyPr>
          <a:lstStyle/>
          <a:p>
            <a:pPr algn="ctr"/>
            <a:r>
              <a:rPr lang="en-IN" sz="2500" dirty="0">
                <a:solidFill>
                  <a:schemeClr val="bg1"/>
                </a:solidFill>
                <a:latin typeface="Tomorrow"/>
              </a:rPr>
              <a:t>TEAM 16</a:t>
            </a:r>
          </a:p>
          <a:p>
            <a:pPr algn="ctr"/>
            <a:endParaRPr lang="en-IN" sz="2500" dirty="0">
              <a:solidFill>
                <a:schemeClr val="bg1"/>
              </a:solidFill>
              <a:latin typeface="Tomorrow"/>
            </a:endParaRPr>
          </a:p>
          <a:p>
            <a:pPr algn="ctr"/>
            <a:r>
              <a:rPr lang="en-IN" sz="2500" dirty="0">
                <a:solidFill>
                  <a:schemeClr val="bg1"/>
                </a:solidFill>
                <a:latin typeface="Tomorrow"/>
              </a:rPr>
              <a:t>KISHORE B                         -        CB.SC.U4AIE23139</a:t>
            </a:r>
          </a:p>
          <a:p>
            <a:pPr algn="ctr"/>
            <a:r>
              <a:rPr lang="en-IN" sz="2500" dirty="0">
                <a:solidFill>
                  <a:schemeClr val="bg1"/>
                </a:solidFill>
                <a:latin typeface="Tomorrow"/>
              </a:rPr>
              <a:t>SAI CHARAN M                 -        CB.SC.U4AIE23143</a:t>
            </a:r>
          </a:p>
          <a:p>
            <a:pPr algn="ctr"/>
            <a:r>
              <a:rPr lang="en-IN" sz="2500" dirty="0">
                <a:solidFill>
                  <a:schemeClr val="bg1"/>
                </a:solidFill>
                <a:latin typeface="Tomorrow"/>
              </a:rPr>
              <a:t>M KOUSHAL REDDY         -        CB.SC.U4AIE23145</a:t>
            </a:r>
          </a:p>
          <a:p>
            <a:pPr algn="ctr"/>
            <a:r>
              <a:rPr lang="en-IN" sz="2500" dirty="0">
                <a:solidFill>
                  <a:schemeClr val="bg1"/>
                </a:solidFill>
                <a:latin typeface="Tomorrow"/>
              </a:rPr>
              <a:t>NAVEEN BABU M S          -        CB.SC.U4AIE23153</a:t>
            </a:r>
          </a:p>
        </p:txBody>
      </p:sp>
      <p:sp>
        <p:nvSpPr>
          <p:cNvPr id="18" name="Rectangle 17">
            <a:extLst>
              <a:ext uri="{FF2B5EF4-FFF2-40B4-BE49-F238E27FC236}">
                <a16:creationId xmlns:a16="http://schemas.microsoft.com/office/drawing/2014/main" id="{4326531C-C61B-5936-516C-4C330B22F5E7}"/>
              </a:ext>
            </a:extLst>
          </p:cNvPr>
          <p:cNvSpPr/>
          <p:nvPr/>
        </p:nvSpPr>
        <p:spPr>
          <a:xfrm>
            <a:off x="0" y="0"/>
            <a:ext cx="14630400" cy="8229600"/>
          </a:xfrm>
          <a:prstGeom prst="rect">
            <a:avLst/>
          </a:prstGeom>
          <a:blipFill dpi="0" rotWithShape="1">
            <a:blip r:embed="rId3">
              <a:alphaModFix amt="8000"/>
            </a:blip>
            <a:srcRect/>
            <a:stretch>
              <a:fillRect/>
            </a:stretch>
          </a:blipFill>
        </p:spPr>
        <p:style>
          <a:lnRef idx="2">
            <a:schemeClr val="dk1"/>
          </a:lnRef>
          <a:fillRef idx="1">
            <a:schemeClr val="lt1"/>
          </a:fillRef>
          <a:effectRef idx="0">
            <a:schemeClr val="dk1"/>
          </a:effectRef>
          <a:fontRef idx="minor">
            <a:schemeClr val="dk1"/>
          </a:fontRef>
        </p:style>
        <p:txBody>
          <a:bodyPr rtlCol="0" anchor="ctr"/>
          <a:lstStyle/>
          <a:p>
            <a:pPr algn="ctr"/>
            <a:endParaRPr lang="en-IN" dirty="0"/>
          </a:p>
        </p:txBody>
      </p:sp>
    </p:spTree>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randombar(horizontal)">
                                      <p:cBhvr>
                                        <p:cTn id="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pic>
        <p:nvPicPr>
          <p:cNvPr id="4"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5" name="Text 2"/>
          <p:cNvSpPr/>
          <p:nvPr/>
        </p:nvSpPr>
        <p:spPr>
          <a:xfrm>
            <a:off x="833199" y="1454467"/>
            <a:ext cx="7477601" cy="2499598"/>
          </a:xfrm>
          <a:prstGeom prst="rect">
            <a:avLst/>
          </a:prstGeom>
          <a:noFill/>
          <a:ln/>
        </p:spPr>
        <p:txBody>
          <a:bodyPr wrap="square" rtlCol="0" anchor="t"/>
          <a:lstStyle/>
          <a:p>
            <a:pPr marL="0" indent="0">
              <a:lnSpc>
                <a:spcPts val="6561"/>
              </a:lnSpc>
              <a:buNone/>
            </a:pPr>
            <a:r>
              <a:rPr lang="en-US" sz="5249" b="1" dirty="0">
                <a:solidFill>
                  <a:srgbClr val="EDEDE8"/>
                </a:solidFill>
                <a:latin typeface="Tomorrow" pitchFamily="34" charset="0"/>
                <a:ea typeface="Tomorrow" pitchFamily="34" charset="-122"/>
                <a:cs typeface="Tomorrow" pitchFamily="34" charset="-120"/>
              </a:rPr>
              <a:t>Introduction to Fourier Transformation</a:t>
            </a:r>
            <a:endParaRPr lang="en-US" sz="5249" dirty="0"/>
          </a:p>
        </p:txBody>
      </p:sp>
      <p:sp>
        <p:nvSpPr>
          <p:cNvPr id="6" name="Text 3"/>
          <p:cNvSpPr/>
          <p:nvPr/>
        </p:nvSpPr>
        <p:spPr>
          <a:xfrm>
            <a:off x="833199" y="4287322"/>
            <a:ext cx="7477601" cy="2487811"/>
          </a:xfrm>
          <a:prstGeom prst="rect">
            <a:avLst/>
          </a:prstGeom>
          <a:noFill/>
          <a:ln/>
        </p:spPr>
        <p:txBody>
          <a:bodyPr wrap="square" rtlCol="0" anchor="t"/>
          <a:lstStyle/>
          <a:p>
            <a:pPr marL="0" indent="0">
              <a:lnSpc>
                <a:spcPts val="2799"/>
              </a:lnSpc>
              <a:buNone/>
            </a:pPr>
            <a:r>
              <a:rPr lang="en-US" sz="2000" dirty="0">
                <a:solidFill>
                  <a:srgbClr val="C9C9C0"/>
                </a:solidFill>
                <a:latin typeface="Tomorrow" pitchFamily="34" charset="0"/>
                <a:ea typeface="Tomorrow" pitchFamily="34" charset="-122"/>
                <a:cs typeface="Tomorrow" pitchFamily="34" charset="-120"/>
              </a:rPr>
              <a:t>Fourier Transformation is a powerful mathematical technique that allows us to analyze and manipulate signals and images in the frequency domain. It decomposes a complex waveform or function into a series of simple sine and cosine waves, each with its own amplitude, frequency, and phase. This transformation has numerous applications in various fields, including signal processing, communications, and image enhancement.</a:t>
            </a:r>
            <a:endParaRPr lang="en-US" sz="2000" dirty="0"/>
          </a:p>
        </p:txBody>
      </p:sp>
    </p:spTree>
    <p:extLst>
      <p:ext uri="{BB962C8B-B14F-4D97-AF65-F5344CB8AC3E}">
        <p14:creationId xmlns:p14="http://schemas.microsoft.com/office/powerpoint/2010/main" val="681521253"/>
      </p:ext>
    </p:extLst>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sp>
        <p:nvSpPr>
          <p:cNvPr id="4" name="Text 2"/>
          <p:cNvSpPr/>
          <p:nvPr/>
        </p:nvSpPr>
        <p:spPr>
          <a:xfrm>
            <a:off x="2037993" y="1158716"/>
            <a:ext cx="10554414" cy="1388745"/>
          </a:xfrm>
          <a:prstGeom prst="rect">
            <a:avLst/>
          </a:prstGeom>
          <a:noFill/>
          <a:ln/>
        </p:spPr>
        <p:txBody>
          <a:bodyPr wrap="square" rtlCol="0" anchor="t"/>
          <a:lstStyle/>
          <a:p>
            <a:pPr marL="0" indent="0">
              <a:lnSpc>
                <a:spcPts val="5468"/>
              </a:lnSpc>
              <a:buNone/>
            </a:pPr>
            <a:r>
              <a:rPr lang="en-US" sz="4374" b="1" dirty="0">
                <a:solidFill>
                  <a:srgbClr val="EDEDE8"/>
                </a:solidFill>
                <a:latin typeface="Tomorrow" pitchFamily="34" charset="0"/>
                <a:ea typeface="Tomorrow" pitchFamily="34" charset="-122"/>
                <a:cs typeface="Tomorrow" pitchFamily="34" charset="-120"/>
              </a:rPr>
              <a:t>Applications of Fourier Transform in Image Enhancement</a:t>
            </a:r>
            <a:endParaRPr lang="en-US" sz="4374" dirty="0"/>
          </a:p>
        </p:txBody>
      </p:sp>
      <p:sp>
        <p:nvSpPr>
          <p:cNvPr id="5" name="Text 3"/>
          <p:cNvSpPr/>
          <p:nvPr/>
        </p:nvSpPr>
        <p:spPr>
          <a:xfrm>
            <a:off x="2037993" y="3102888"/>
            <a:ext cx="2777490" cy="347186"/>
          </a:xfrm>
          <a:prstGeom prst="rect">
            <a:avLst/>
          </a:prstGeom>
          <a:noFill/>
          <a:ln/>
        </p:spPr>
        <p:txBody>
          <a:bodyPr wrap="none" rtlCol="0" anchor="t"/>
          <a:lstStyle/>
          <a:p>
            <a:pPr marL="0" indent="0">
              <a:lnSpc>
                <a:spcPts val="2734"/>
              </a:lnSpc>
              <a:buNone/>
            </a:pPr>
            <a:r>
              <a:rPr lang="en-US" sz="2187" b="1" dirty="0">
                <a:solidFill>
                  <a:srgbClr val="EDEDE8"/>
                </a:solidFill>
                <a:latin typeface="Tomorrow" pitchFamily="34" charset="0"/>
                <a:ea typeface="Tomorrow" pitchFamily="34" charset="-122"/>
              </a:rPr>
              <a:t>Enhancement</a:t>
            </a:r>
            <a:endParaRPr lang="en-US" sz="2187" dirty="0"/>
          </a:p>
        </p:txBody>
      </p:sp>
      <p:sp>
        <p:nvSpPr>
          <p:cNvPr id="6" name="Text 4"/>
          <p:cNvSpPr/>
          <p:nvPr/>
        </p:nvSpPr>
        <p:spPr>
          <a:xfrm>
            <a:off x="2037993" y="3672245"/>
            <a:ext cx="3156347" cy="3198614"/>
          </a:xfrm>
          <a:prstGeom prst="rect">
            <a:avLst/>
          </a:prstGeom>
          <a:noFill/>
          <a:ln/>
        </p:spPr>
        <p:txBody>
          <a:bodyPr wrap="square" rtlCol="0" anchor="t"/>
          <a:lstStyle/>
          <a:p>
            <a:pPr marL="0" indent="0">
              <a:lnSpc>
                <a:spcPts val="2799"/>
              </a:lnSpc>
              <a:buNone/>
            </a:pPr>
            <a:r>
              <a:rPr lang="en-US" sz="1750" dirty="0">
                <a:solidFill>
                  <a:srgbClr val="C9C9C0"/>
                </a:solidFill>
                <a:latin typeface="Tomorrow" pitchFamily="34" charset="0"/>
                <a:ea typeface="Tomorrow" pitchFamily="34" charset="-122"/>
              </a:rPr>
              <a:t>By converting an image from its spatial domain to the frequency domain, the Fourier Transform reveals the underlying frequency content, allowing for targeted enhancements such as sharpening edges, reducing noise, and improving overall image quality. </a:t>
            </a:r>
            <a:endParaRPr lang="en-US" sz="1750" dirty="0"/>
          </a:p>
        </p:txBody>
      </p:sp>
      <p:sp>
        <p:nvSpPr>
          <p:cNvPr id="7" name="Text 5"/>
          <p:cNvSpPr/>
          <p:nvPr/>
        </p:nvSpPr>
        <p:spPr>
          <a:xfrm>
            <a:off x="5743932" y="3102888"/>
            <a:ext cx="2777490" cy="347186"/>
          </a:xfrm>
          <a:prstGeom prst="rect">
            <a:avLst/>
          </a:prstGeom>
          <a:noFill/>
          <a:ln/>
        </p:spPr>
        <p:txBody>
          <a:bodyPr wrap="none" rtlCol="0" anchor="t"/>
          <a:lstStyle/>
          <a:p>
            <a:pPr marL="0" indent="0">
              <a:lnSpc>
                <a:spcPts val="2734"/>
              </a:lnSpc>
              <a:buNone/>
            </a:pPr>
            <a:r>
              <a:rPr lang="en-US" sz="2187" b="1" dirty="0">
                <a:solidFill>
                  <a:srgbClr val="EDEDE8"/>
                </a:solidFill>
                <a:latin typeface="Tomorrow" pitchFamily="34" charset="0"/>
                <a:ea typeface="Tomorrow" pitchFamily="34" charset="-122"/>
                <a:cs typeface="Tomorrow" pitchFamily="34" charset="-120"/>
              </a:rPr>
              <a:t>Sharpening</a:t>
            </a:r>
            <a:endParaRPr lang="en-US" sz="2187" dirty="0"/>
          </a:p>
        </p:txBody>
      </p:sp>
      <p:sp>
        <p:nvSpPr>
          <p:cNvPr id="8" name="Text 6"/>
          <p:cNvSpPr/>
          <p:nvPr/>
        </p:nvSpPr>
        <p:spPr>
          <a:xfrm>
            <a:off x="5743932" y="3672245"/>
            <a:ext cx="3156347" cy="2843213"/>
          </a:xfrm>
          <a:prstGeom prst="rect">
            <a:avLst/>
          </a:prstGeom>
          <a:noFill/>
          <a:ln/>
        </p:spPr>
        <p:txBody>
          <a:bodyPr wrap="square" rtlCol="0" anchor="t"/>
          <a:lstStyle/>
          <a:p>
            <a:pPr marL="0" indent="0">
              <a:lnSpc>
                <a:spcPts val="2799"/>
              </a:lnSpc>
              <a:buNone/>
            </a:pPr>
            <a:r>
              <a:rPr lang="en-US" sz="1750" dirty="0">
                <a:solidFill>
                  <a:srgbClr val="C9C9C0"/>
                </a:solidFill>
                <a:latin typeface="Tomorrow" pitchFamily="34" charset="0"/>
                <a:ea typeface="Tomorrow" pitchFamily="34" charset="-122"/>
                <a:cs typeface="Tomorrow" pitchFamily="34" charset="-120"/>
              </a:rPr>
              <a:t>By selectively amplifying high-frequency components in the Fourier domain, Fourier Transform can be used to sharpen and enhance the edges and details in an image, making it appear more crisp and defined.</a:t>
            </a:r>
            <a:endParaRPr lang="en-US" sz="1750" dirty="0"/>
          </a:p>
        </p:txBody>
      </p:sp>
      <p:sp>
        <p:nvSpPr>
          <p:cNvPr id="9" name="Text 7"/>
          <p:cNvSpPr/>
          <p:nvPr/>
        </p:nvSpPr>
        <p:spPr>
          <a:xfrm>
            <a:off x="9449872" y="3102888"/>
            <a:ext cx="2777490" cy="347186"/>
          </a:xfrm>
          <a:prstGeom prst="rect">
            <a:avLst/>
          </a:prstGeom>
          <a:noFill/>
          <a:ln/>
        </p:spPr>
        <p:txBody>
          <a:bodyPr wrap="none" rtlCol="0" anchor="t"/>
          <a:lstStyle/>
          <a:p>
            <a:pPr marL="0" indent="0">
              <a:lnSpc>
                <a:spcPts val="2734"/>
              </a:lnSpc>
              <a:buNone/>
            </a:pPr>
            <a:r>
              <a:rPr lang="en-US" sz="2187" b="1" dirty="0">
                <a:solidFill>
                  <a:srgbClr val="EDEDE8"/>
                </a:solidFill>
                <a:latin typeface="Tomorrow" pitchFamily="34" charset="0"/>
                <a:ea typeface="Tomorrow" pitchFamily="34" charset="-122"/>
                <a:cs typeface="Tomorrow" pitchFamily="34" charset="-120"/>
              </a:rPr>
              <a:t>Compression</a:t>
            </a:r>
            <a:endParaRPr lang="en-US" sz="2187" dirty="0"/>
          </a:p>
        </p:txBody>
      </p:sp>
      <p:sp>
        <p:nvSpPr>
          <p:cNvPr id="10" name="Text 8"/>
          <p:cNvSpPr/>
          <p:nvPr/>
        </p:nvSpPr>
        <p:spPr>
          <a:xfrm>
            <a:off x="9449872" y="3672245"/>
            <a:ext cx="3156347" cy="3198614"/>
          </a:xfrm>
          <a:prstGeom prst="rect">
            <a:avLst/>
          </a:prstGeom>
          <a:noFill/>
          <a:ln/>
        </p:spPr>
        <p:txBody>
          <a:bodyPr wrap="square" rtlCol="0" anchor="t"/>
          <a:lstStyle/>
          <a:p>
            <a:pPr marL="0" indent="0">
              <a:lnSpc>
                <a:spcPts val="2799"/>
              </a:lnSpc>
              <a:buNone/>
            </a:pPr>
            <a:r>
              <a:rPr lang="en-US" sz="1750" dirty="0">
                <a:solidFill>
                  <a:srgbClr val="C9C9C0"/>
                </a:solidFill>
                <a:latin typeface="Tomorrow" pitchFamily="34" charset="0"/>
                <a:ea typeface="Tomorrow" pitchFamily="34" charset="-122"/>
                <a:cs typeface="Tomorrow" pitchFamily="34" charset="-120"/>
              </a:rPr>
              <a:t>Fourier Transform is a key component in image compression algorithms, such as JPEG, which take advantage of the fact that high-frequency components often contain less important information and can be safely discarded to reduce file size.</a:t>
            </a:r>
            <a:endParaRPr lang="en-US" sz="1750" dirty="0"/>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32577"/>
          </a:xfrm>
          <a:prstGeom prst="rect">
            <a:avLst/>
          </a:prstGeom>
          <a:solidFill>
            <a:srgbClr val="1D1D1B"/>
          </a:solidFill>
          <a:ln/>
        </p:spPr>
      </p:sp>
      <p:sp>
        <p:nvSpPr>
          <p:cNvPr id="4" name="Text 2"/>
          <p:cNvSpPr/>
          <p:nvPr/>
        </p:nvSpPr>
        <p:spPr>
          <a:xfrm>
            <a:off x="2086332" y="605433"/>
            <a:ext cx="5503902" cy="687943"/>
          </a:xfrm>
          <a:prstGeom prst="rect">
            <a:avLst/>
          </a:prstGeom>
          <a:noFill/>
          <a:ln/>
        </p:spPr>
        <p:txBody>
          <a:bodyPr wrap="none" rtlCol="0" anchor="t"/>
          <a:lstStyle/>
          <a:p>
            <a:pPr marL="0" indent="0">
              <a:lnSpc>
                <a:spcPts val="5417"/>
              </a:lnSpc>
              <a:buNone/>
            </a:pPr>
            <a:r>
              <a:rPr lang="en-US" sz="4334" b="1" dirty="0">
                <a:solidFill>
                  <a:srgbClr val="EDEDE8"/>
                </a:solidFill>
                <a:latin typeface="Tomorrow" pitchFamily="34" charset="0"/>
                <a:ea typeface="Tomorrow" pitchFamily="34" charset="-122"/>
                <a:cs typeface="Tomorrow" pitchFamily="34" charset="-120"/>
              </a:rPr>
              <a:t>Dataset</a:t>
            </a:r>
            <a:endParaRPr lang="en-US" sz="4334" dirty="0"/>
          </a:p>
        </p:txBody>
      </p:sp>
      <p:sp>
        <p:nvSpPr>
          <p:cNvPr id="8" name="Text 6"/>
          <p:cNvSpPr/>
          <p:nvPr/>
        </p:nvSpPr>
        <p:spPr>
          <a:xfrm>
            <a:off x="2623978" y="1781811"/>
            <a:ext cx="9580721" cy="1155778"/>
          </a:xfrm>
          <a:prstGeom prst="rect">
            <a:avLst/>
          </a:prstGeom>
          <a:noFill/>
          <a:ln/>
        </p:spPr>
        <p:txBody>
          <a:bodyPr wrap="square" rtlCol="0" anchor="t"/>
          <a:lstStyle/>
          <a:p>
            <a:pPr marL="0" indent="0">
              <a:lnSpc>
                <a:spcPts val="2774"/>
              </a:lnSpc>
              <a:buNone/>
            </a:pPr>
            <a:r>
              <a:rPr lang="en-US" sz="2200" dirty="0">
                <a:solidFill>
                  <a:srgbClr val="C9C9C0"/>
                </a:solidFill>
                <a:latin typeface="Tomorrow" pitchFamily="34" charset="0"/>
                <a:ea typeface="Tomorrow" pitchFamily="34" charset="-122"/>
                <a:cs typeface="Tomorrow" pitchFamily="34" charset="-120"/>
              </a:rPr>
              <a:t>The dataset includes a wide range of image subjects, from natural landscapes and cityscapes to portraits and abstract art, allowing for a comprehensive exploration of Fourier Transform techniques.</a:t>
            </a:r>
            <a:endParaRPr lang="en-US" sz="2200" dirty="0"/>
          </a:p>
        </p:txBody>
      </p:sp>
      <p:sp>
        <p:nvSpPr>
          <p:cNvPr id="10" name="Text 8"/>
          <p:cNvSpPr/>
          <p:nvPr/>
        </p:nvSpPr>
        <p:spPr>
          <a:xfrm>
            <a:off x="7561898" y="1946910"/>
            <a:ext cx="221933" cy="412790"/>
          </a:xfrm>
          <a:prstGeom prst="rect">
            <a:avLst/>
          </a:prstGeom>
          <a:noFill/>
          <a:ln/>
        </p:spPr>
        <p:txBody>
          <a:bodyPr wrap="none" rtlCol="0" anchor="t"/>
          <a:lstStyle/>
          <a:p>
            <a:pPr marL="0" indent="0" algn="ctr">
              <a:lnSpc>
                <a:spcPts val="3250"/>
              </a:lnSpc>
              <a:buNone/>
            </a:pPr>
            <a:endParaRPr lang="en-US" sz="2600" dirty="0"/>
          </a:p>
        </p:txBody>
      </p:sp>
      <p:sp>
        <p:nvSpPr>
          <p:cNvPr id="22" name="TextBox 21">
            <a:extLst>
              <a:ext uri="{FF2B5EF4-FFF2-40B4-BE49-F238E27FC236}">
                <a16:creationId xmlns:a16="http://schemas.microsoft.com/office/drawing/2014/main" id="{2ACDD3EE-7E9A-8C32-5096-4543E6A57E7F}"/>
              </a:ext>
            </a:extLst>
          </p:cNvPr>
          <p:cNvSpPr txBox="1"/>
          <p:nvPr/>
        </p:nvSpPr>
        <p:spPr>
          <a:xfrm>
            <a:off x="2623978" y="3222248"/>
            <a:ext cx="9055100" cy="1785104"/>
          </a:xfrm>
          <a:prstGeom prst="rect">
            <a:avLst/>
          </a:prstGeom>
          <a:noFill/>
        </p:spPr>
        <p:txBody>
          <a:bodyPr wrap="square" rtlCol="0">
            <a:spAutoFit/>
          </a:bodyPr>
          <a:lstStyle/>
          <a:p>
            <a:r>
              <a:rPr lang="en-IN" sz="2200" dirty="0">
                <a:solidFill>
                  <a:schemeClr val="bg1"/>
                </a:solidFill>
              </a:rPr>
              <a:t>The process is done with help of blogs and YouTube videos made by universities and creators and from the official MATLAB site.</a:t>
            </a:r>
          </a:p>
          <a:p>
            <a:endParaRPr lang="en-IN" sz="2200" dirty="0">
              <a:solidFill>
                <a:schemeClr val="bg1"/>
              </a:solidFill>
            </a:endParaRPr>
          </a:p>
          <a:p>
            <a:r>
              <a:rPr lang="en-IN" sz="2200" dirty="0">
                <a:solidFill>
                  <a:schemeClr val="bg1"/>
                </a:solidFill>
              </a:rPr>
              <a:t>For further clarification and understanding LLMs  i.e., GPT 3.5 &amp; Gemini are used. </a:t>
            </a:r>
          </a:p>
        </p:txBody>
      </p:sp>
      <p:sp>
        <p:nvSpPr>
          <p:cNvPr id="23" name="TextBox 22">
            <a:extLst>
              <a:ext uri="{FF2B5EF4-FFF2-40B4-BE49-F238E27FC236}">
                <a16:creationId xmlns:a16="http://schemas.microsoft.com/office/drawing/2014/main" id="{94D36E6B-8A93-9E62-B0A8-70F728C18121}"/>
              </a:ext>
            </a:extLst>
          </p:cNvPr>
          <p:cNvSpPr txBox="1"/>
          <p:nvPr/>
        </p:nvSpPr>
        <p:spPr>
          <a:xfrm>
            <a:off x="2476023" y="5839063"/>
            <a:ext cx="10228422" cy="1785104"/>
          </a:xfrm>
          <a:prstGeom prst="rect">
            <a:avLst/>
          </a:prstGeom>
          <a:noFill/>
        </p:spPr>
        <p:txBody>
          <a:bodyPr wrap="square" rtlCol="0">
            <a:spAutoFit/>
          </a:bodyPr>
          <a:lstStyle/>
          <a:p>
            <a:r>
              <a:rPr lang="en-IN" sz="2200" dirty="0">
                <a:solidFill>
                  <a:schemeClr val="bg1"/>
                </a:solidFill>
                <a:latin typeface="Tomorrow"/>
                <a:hlinkClick r:id="rId3"/>
              </a:rPr>
              <a:t>https://uk.mathworks.com/help/images/fourier-transform.html</a:t>
            </a:r>
            <a:endParaRPr lang="en-IN" sz="2200" dirty="0">
              <a:solidFill>
                <a:schemeClr val="bg1"/>
              </a:solidFill>
              <a:latin typeface="Tomorrow"/>
            </a:endParaRPr>
          </a:p>
          <a:p>
            <a:r>
              <a:rPr lang="en-IN" sz="2200" dirty="0">
                <a:solidFill>
                  <a:schemeClr val="bg1"/>
                </a:solidFill>
                <a:latin typeface="Tomorrow"/>
                <a:hlinkClick r:id="rId4"/>
              </a:rPr>
              <a:t>https://vincmazet.github.io/bip/filtering/fourier.html</a:t>
            </a:r>
            <a:endParaRPr lang="en-IN" sz="2200" dirty="0">
              <a:solidFill>
                <a:schemeClr val="bg1"/>
              </a:solidFill>
              <a:latin typeface="Tomorrow"/>
            </a:endParaRPr>
          </a:p>
          <a:p>
            <a:r>
              <a:rPr lang="en-IN" sz="2200" dirty="0">
                <a:solidFill>
                  <a:schemeClr val="bg1"/>
                </a:solidFill>
                <a:latin typeface="Tomorrow"/>
                <a:hlinkClick r:id="rId5"/>
              </a:rPr>
              <a:t>https://www.sci.utah.edu/~gerig/CS6640-F2014/Materials/CS6640_F2014_Fourier_I.pdf</a:t>
            </a:r>
            <a:endParaRPr lang="en-IN" sz="2200" dirty="0">
              <a:solidFill>
                <a:schemeClr val="bg1"/>
              </a:solidFill>
              <a:latin typeface="Tomorrow"/>
            </a:endParaRPr>
          </a:p>
          <a:p>
            <a:r>
              <a:rPr lang="en-IN" sz="2200" dirty="0">
                <a:solidFill>
                  <a:schemeClr val="bg1"/>
                </a:solidFill>
                <a:latin typeface="Tomorrow"/>
                <a:hlinkClick r:id="rId6"/>
              </a:rPr>
              <a:t>https://www.cs.unm.edu/~brayer/vision/fourier.html</a:t>
            </a:r>
            <a:endParaRPr lang="en-IN" sz="2200" dirty="0">
              <a:solidFill>
                <a:schemeClr val="bg1"/>
              </a:solidFill>
              <a:latin typeface="Tomorrow"/>
            </a:endParaRPr>
          </a:p>
          <a:p>
            <a:r>
              <a:rPr lang="en-IN" sz="2200" dirty="0">
                <a:solidFill>
                  <a:schemeClr val="bg1"/>
                </a:solidFill>
                <a:latin typeface="Tomorrow"/>
              </a:rPr>
              <a:t>https://www.youtube.com/watch?v=spUNpyF58BY&amp;ab_channel=3Blue1Brown</a:t>
            </a:r>
          </a:p>
        </p:txBody>
      </p:sp>
      <p:sp>
        <p:nvSpPr>
          <p:cNvPr id="24" name="TextBox 23">
            <a:extLst>
              <a:ext uri="{FF2B5EF4-FFF2-40B4-BE49-F238E27FC236}">
                <a16:creationId xmlns:a16="http://schemas.microsoft.com/office/drawing/2014/main" id="{9B69B6B7-FA70-1F40-B51D-DFD3201EBDD5}"/>
              </a:ext>
            </a:extLst>
          </p:cNvPr>
          <p:cNvSpPr txBox="1"/>
          <p:nvPr/>
        </p:nvSpPr>
        <p:spPr>
          <a:xfrm>
            <a:off x="2476023" y="5394672"/>
            <a:ext cx="8178800" cy="400110"/>
          </a:xfrm>
          <a:prstGeom prst="rect">
            <a:avLst/>
          </a:prstGeom>
          <a:noFill/>
        </p:spPr>
        <p:txBody>
          <a:bodyPr wrap="square" rtlCol="0">
            <a:spAutoFit/>
          </a:bodyPr>
          <a:lstStyle/>
          <a:p>
            <a:r>
              <a:rPr lang="en-IN" sz="2000" dirty="0">
                <a:solidFill>
                  <a:schemeClr val="bg1"/>
                </a:solidFill>
              </a:rPr>
              <a:t>Access to source:</a:t>
            </a: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pic>
        <p:nvPicPr>
          <p:cNvPr id="4"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5" name="Shape 2"/>
          <p:cNvSpPr/>
          <p:nvPr/>
        </p:nvSpPr>
        <p:spPr>
          <a:xfrm>
            <a:off x="0" y="0"/>
            <a:ext cx="14630400" cy="8229600"/>
          </a:xfrm>
          <a:prstGeom prst="rect">
            <a:avLst/>
          </a:prstGeom>
          <a:solidFill>
            <a:srgbClr val="1D1D1B">
              <a:alpha val="80000"/>
            </a:srgbClr>
          </a:solidFill>
          <a:ln/>
        </p:spPr>
      </p:sp>
      <p:sp>
        <p:nvSpPr>
          <p:cNvPr id="6" name="Text 3"/>
          <p:cNvSpPr/>
          <p:nvPr/>
        </p:nvSpPr>
        <p:spPr>
          <a:xfrm>
            <a:off x="2809756" y="523637"/>
            <a:ext cx="9010888" cy="1185386"/>
          </a:xfrm>
          <a:prstGeom prst="rect">
            <a:avLst/>
          </a:prstGeom>
          <a:noFill/>
          <a:ln/>
        </p:spPr>
        <p:txBody>
          <a:bodyPr wrap="square" rtlCol="0" anchor="t"/>
          <a:lstStyle/>
          <a:p>
            <a:pPr marL="0" indent="0">
              <a:lnSpc>
                <a:spcPts val="4668"/>
              </a:lnSpc>
              <a:buNone/>
            </a:pPr>
            <a:r>
              <a:rPr lang="en-US" sz="3734" b="1" dirty="0">
                <a:solidFill>
                  <a:srgbClr val="EDEDE8"/>
                </a:solidFill>
                <a:latin typeface="Tomorrow" pitchFamily="34" charset="0"/>
                <a:ea typeface="Tomorrow" pitchFamily="34" charset="-122"/>
                <a:cs typeface="Tomorrow" pitchFamily="34" charset="-120"/>
              </a:rPr>
              <a:t>Image Enhancement and Restoration</a:t>
            </a:r>
            <a:endParaRPr lang="en-US" sz="3734" dirty="0"/>
          </a:p>
        </p:txBody>
      </p:sp>
      <p:sp>
        <p:nvSpPr>
          <p:cNvPr id="7" name="Shape 4"/>
          <p:cNvSpPr/>
          <p:nvPr/>
        </p:nvSpPr>
        <p:spPr>
          <a:xfrm>
            <a:off x="7296269" y="1993463"/>
            <a:ext cx="37862" cy="5712500"/>
          </a:xfrm>
          <a:prstGeom prst="rect">
            <a:avLst/>
          </a:prstGeom>
          <a:solidFill>
            <a:srgbClr val="5B5B57"/>
          </a:solidFill>
          <a:ln/>
        </p:spPr>
      </p:sp>
      <p:sp>
        <p:nvSpPr>
          <p:cNvPr id="8" name="Shape 5"/>
          <p:cNvSpPr/>
          <p:nvPr/>
        </p:nvSpPr>
        <p:spPr>
          <a:xfrm>
            <a:off x="6437948" y="2336006"/>
            <a:ext cx="663893" cy="37862"/>
          </a:xfrm>
          <a:prstGeom prst="rect">
            <a:avLst/>
          </a:prstGeom>
          <a:solidFill>
            <a:srgbClr val="5B5B57"/>
          </a:solidFill>
          <a:ln/>
        </p:spPr>
      </p:sp>
      <p:sp>
        <p:nvSpPr>
          <p:cNvPr id="9" name="Shape 6"/>
          <p:cNvSpPr/>
          <p:nvPr/>
        </p:nvSpPr>
        <p:spPr>
          <a:xfrm>
            <a:off x="7101840" y="2141696"/>
            <a:ext cx="426720" cy="426720"/>
          </a:xfrm>
          <a:prstGeom prst="roundRect">
            <a:avLst>
              <a:gd name="adj" fmla="val 26674"/>
            </a:avLst>
          </a:prstGeom>
          <a:solidFill>
            <a:srgbClr val="0B0B0A"/>
          </a:solidFill>
          <a:ln/>
        </p:spPr>
      </p:sp>
      <p:sp>
        <p:nvSpPr>
          <p:cNvPr id="10" name="Text 7"/>
          <p:cNvSpPr/>
          <p:nvPr/>
        </p:nvSpPr>
        <p:spPr>
          <a:xfrm>
            <a:off x="7250430" y="2177177"/>
            <a:ext cx="129421" cy="355640"/>
          </a:xfrm>
          <a:prstGeom prst="rect">
            <a:avLst/>
          </a:prstGeom>
          <a:noFill/>
          <a:ln/>
        </p:spPr>
        <p:txBody>
          <a:bodyPr wrap="none" rtlCol="0" anchor="t"/>
          <a:lstStyle/>
          <a:p>
            <a:pPr marL="0" indent="0" algn="ctr">
              <a:lnSpc>
                <a:spcPts val="2801"/>
              </a:lnSpc>
              <a:buNone/>
            </a:pPr>
            <a:r>
              <a:rPr lang="en-US" sz="2241" b="1" dirty="0">
                <a:solidFill>
                  <a:srgbClr val="EDEDE8"/>
                </a:solidFill>
                <a:latin typeface="Tomorrow" pitchFamily="34" charset="0"/>
                <a:ea typeface="Tomorrow" pitchFamily="34" charset="-122"/>
                <a:cs typeface="Tomorrow" pitchFamily="34" charset="-120"/>
              </a:rPr>
              <a:t>1</a:t>
            </a:r>
            <a:endParaRPr lang="en-US" sz="2241" dirty="0"/>
          </a:p>
        </p:txBody>
      </p:sp>
      <p:sp>
        <p:nvSpPr>
          <p:cNvPr id="11" name="Text 8"/>
          <p:cNvSpPr/>
          <p:nvPr/>
        </p:nvSpPr>
        <p:spPr>
          <a:xfrm>
            <a:off x="3900607" y="2183130"/>
            <a:ext cx="2371249" cy="296466"/>
          </a:xfrm>
          <a:prstGeom prst="rect">
            <a:avLst/>
          </a:prstGeom>
          <a:noFill/>
          <a:ln/>
        </p:spPr>
        <p:txBody>
          <a:bodyPr wrap="none" rtlCol="0" anchor="t"/>
          <a:lstStyle/>
          <a:p>
            <a:pPr marL="0" indent="0" algn="r">
              <a:lnSpc>
                <a:spcPts val="2334"/>
              </a:lnSpc>
              <a:buNone/>
            </a:pPr>
            <a:r>
              <a:rPr lang="en-US" sz="1867" b="1" dirty="0">
                <a:solidFill>
                  <a:srgbClr val="EDEDE8"/>
                </a:solidFill>
                <a:latin typeface="Tomorrow" pitchFamily="34" charset="0"/>
                <a:ea typeface="Tomorrow" pitchFamily="34" charset="-122"/>
                <a:cs typeface="Tomorrow" pitchFamily="34" charset="-120"/>
              </a:rPr>
              <a:t>Fourier Transform</a:t>
            </a:r>
            <a:endParaRPr lang="en-US" sz="1867" dirty="0"/>
          </a:p>
        </p:txBody>
      </p:sp>
      <p:sp>
        <p:nvSpPr>
          <p:cNvPr id="12" name="Text 9"/>
          <p:cNvSpPr/>
          <p:nvPr/>
        </p:nvSpPr>
        <p:spPr>
          <a:xfrm>
            <a:off x="2809756" y="2593300"/>
            <a:ext cx="3462099" cy="1820228"/>
          </a:xfrm>
          <a:prstGeom prst="rect">
            <a:avLst/>
          </a:prstGeom>
          <a:noFill/>
          <a:ln/>
        </p:spPr>
        <p:txBody>
          <a:bodyPr wrap="square" rtlCol="0" anchor="t"/>
          <a:lstStyle/>
          <a:p>
            <a:pPr marL="0" indent="0" algn="r">
              <a:lnSpc>
                <a:spcPts val="2390"/>
              </a:lnSpc>
              <a:buNone/>
            </a:pPr>
            <a:r>
              <a:rPr lang="en-US" sz="1494" dirty="0">
                <a:solidFill>
                  <a:srgbClr val="C9C9C0"/>
                </a:solidFill>
                <a:latin typeface="Tomorrow" pitchFamily="34" charset="0"/>
                <a:ea typeface="Tomorrow" pitchFamily="34" charset="-122"/>
                <a:cs typeface="Tomorrow" pitchFamily="34" charset="-120"/>
              </a:rPr>
              <a:t>The Fourier Transform is applied to the input image, converting it from the spatial domain to the frequency domain. This allows us to identify and manipulate the different frequency components that make up the image.</a:t>
            </a:r>
            <a:endParaRPr lang="en-US" sz="1494" dirty="0"/>
          </a:p>
        </p:txBody>
      </p:sp>
      <p:sp>
        <p:nvSpPr>
          <p:cNvPr id="13" name="Shape 10"/>
          <p:cNvSpPr/>
          <p:nvPr/>
        </p:nvSpPr>
        <p:spPr>
          <a:xfrm>
            <a:off x="7528560" y="3284458"/>
            <a:ext cx="663893" cy="37862"/>
          </a:xfrm>
          <a:prstGeom prst="rect">
            <a:avLst/>
          </a:prstGeom>
          <a:solidFill>
            <a:srgbClr val="5B5B57"/>
          </a:solidFill>
          <a:ln/>
        </p:spPr>
      </p:sp>
      <p:sp>
        <p:nvSpPr>
          <p:cNvPr id="14" name="Shape 11"/>
          <p:cNvSpPr/>
          <p:nvPr/>
        </p:nvSpPr>
        <p:spPr>
          <a:xfrm>
            <a:off x="7101840" y="3090148"/>
            <a:ext cx="426720" cy="426720"/>
          </a:xfrm>
          <a:prstGeom prst="roundRect">
            <a:avLst>
              <a:gd name="adj" fmla="val 26674"/>
            </a:avLst>
          </a:prstGeom>
          <a:solidFill>
            <a:srgbClr val="0B0B0A"/>
          </a:solidFill>
          <a:ln/>
        </p:spPr>
      </p:sp>
      <p:sp>
        <p:nvSpPr>
          <p:cNvPr id="15" name="Text 12"/>
          <p:cNvSpPr/>
          <p:nvPr/>
        </p:nvSpPr>
        <p:spPr>
          <a:xfrm>
            <a:off x="7219593" y="3125629"/>
            <a:ext cx="191214" cy="355640"/>
          </a:xfrm>
          <a:prstGeom prst="rect">
            <a:avLst/>
          </a:prstGeom>
          <a:noFill/>
          <a:ln/>
        </p:spPr>
        <p:txBody>
          <a:bodyPr wrap="none" rtlCol="0" anchor="t"/>
          <a:lstStyle/>
          <a:p>
            <a:pPr marL="0" indent="0" algn="ctr">
              <a:lnSpc>
                <a:spcPts val="2801"/>
              </a:lnSpc>
              <a:buNone/>
            </a:pPr>
            <a:r>
              <a:rPr lang="en-US" sz="2241" b="1" dirty="0">
                <a:solidFill>
                  <a:srgbClr val="EDEDE8"/>
                </a:solidFill>
                <a:latin typeface="Tomorrow" pitchFamily="34" charset="0"/>
                <a:ea typeface="Tomorrow" pitchFamily="34" charset="-122"/>
                <a:cs typeface="Tomorrow" pitchFamily="34" charset="-120"/>
              </a:rPr>
              <a:t>2</a:t>
            </a:r>
            <a:endParaRPr lang="en-US" sz="2241" dirty="0"/>
          </a:p>
        </p:txBody>
      </p:sp>
      <p:sp>
        <p:nvSpPr>
          <p:cNvPr id="16" name="Text 13"/>
          <p:cNvSpPr/>
          <p:nvPr/>
        </p:nvSpPr>
        <p:spPr>
          <a:xfrm>
            <a:off x="8358545" y="3131582"/>
            <a:ext cx="2371249" cy="296466"/>
          </a:xfrm>
          <a:prstGeom prst="rect">
            <a:avLst/>
          </a:prstGeom>
          <a:noFill/>
          <a:ln/>
        </p:spPr>
        <p:txBody>
          <a:bodyPr wrap="none" rtlCol="0" anchor="t"/>
          <a:lstStyle/>
          <a:p>
            <a:pPr marL="0" indent="0" algn="l">
              <a:lnSpc>
                <a:spcPts val="2334"/>
              </a:lnSpc>
              <a:buNone/>
            </a:pPr>
            <a:r>
              <a:rPr lang="en-US" sz="1867" b="1" dirty="0">
                <a:solidFill>
                  <a:srgbClr val="EDEDE8"/>
                </a:solidFill>
                <a:latin typeface="Tomorrow" pitchFamily="34" charset="0"/>
                <a:ea typeface="Tomorrow" pitchFamily="34" charset="-122"/>
                <a:cs typeface="Tomorrow" pitchFamily="34" charset="-120"/>
              </a:rPr>
              <a:t>Frequency Filtering</a:t>
            </a:r>
            <a:endParaRPr lang="en-US" sz="1867" dirty="0"/>
          </a:p>
        </p:txBody>
      </p:sp>
      <p:sp>
        <p:nvSpPr>
          <p:cNvPr id="17" name="Text 14"/>
          <p:cNvSpPr/>
          <p:nvPr/>
        </p:nvSpPr>
        <p:spPr>
          <a:xfrm>
            <a:off x="8358545" y="3541752"/>
            <a:ext cx="3462099" cy="2123599"/>
          </a:xfrm>
          <a:prstGeom prst="rect">
            <a:avLst/>
          </a:prstGeom>
          <a:noFill/>
          <a:ln/>
        </p:spPr>
        <p:txBody>
          <a:bodyPr wrap="square" rtlCol="0" anchor="t"/>
          <a:lstStyle/>
          <a:p>
            <a:pPr marL="0" indent="0" algn="l">
              <a:lnSpc>
                <a:spcPts val="2390"/>
              </a:lnSpc>
              <a:buNone/>
            </a:pPr>
            <a:r>
              <a:rPr lang="en-US" sz="1494" dirty="0">
                <a:solidFill>
                  <a:srgbClr val="C9C9C0"/>
                </a:solidFill>
                <a:latin typeface="Tomorrow" pitchFamily="34" charset="0"/>
                <a:ea typeface="Tomorrow" pitchFamily="34" charset="-122"/>
                <a:cs typeface="Tomorrow" pitchFamily="34" charset="-120"/>
              </a:rPr>
              <a:t>Based on the analysis of the Fourier Transform, specific frequency components can be selectively amplified or attenuated to enhance desired features and reduce unwanted artifacts, such as noise or blur.</a:t>
            </a:r>
            <a:endParaRPr lang="en-US" sz="1494" dirty="0"/>
          </a:p>
        </p:txBody>
      </p:sp>
      <p:sp>
        <p:nvSpPr>
          <p:cNvPr id="18" name="Shape 15"/>
          <p:cNvSpPr/>
          <p:nvPr/>
        </p:nvSpPr>
        <p:spPr>
          <a:xfrm>
            <a:off x="6437948" y="5135404"/>
            <a:ext cx="663893" cy="37862"/>
          </a:xfrm>
          <a:prstGeom prst="rect">
            <a:avLst/>
          </a:prstGeom>
          <a:solidFill>
            <a:srgbClr val="5B5B57"/>
          </a:solidFill>
          <a:ln/>
        </p:spPr>
      </p:sp>
      <p:sp>
        <p:nvSpPr>
          <p:cNvPr id="19" name="Shape 16"/>
          <p:cNvSpPr/>
          <p:nvPr/>
        </p:nvSpPr>
        <p:spPr>
          <a:xfrm>
            <a:off x="7101840" y="4941094"/>
            <a:ext cx="426720" cy="426720"/>
          </a:xfrm>
          <a:prstGeom prst="roundRect">
            <a:avLst>
              <a:gd name="adj" fmla="val 26674"/>
            </a:avLst>
          </a:prstGeom>
          <a:solidFill>
            <a:srgbClr val="0B0B0A"/>
          </a:solidFill>
          <a:ln/>
        </p:spPr>
      </p:sp>
      <p:sp>
        <p:nvSpPr>
          <p:cNvPr id="20" name="Text 17"/>
          <p:cNvSpPr/>
          <p:nvPr/>
        </p:nvSpPr>
        <p:spPr>
          <a:xfrm>
            <a:off x="7220188" y="4976574"/>
            <a:ext cx="190024" cy="355640"/>
          </a:xfrm>
          <a:prstGeom prst="rect">
            <a:avLst/>
          </a:prstGeom>
          <a:noFill/>
          <a:ln/>
        </p:spPr>
        <p:txBody>
          <a:bodyPr wrap="none" rtlCol="0" anchor="t"/>
          <a:lstStyle/>
          <a:p>
            <a:pPr marL="0" indent="0" algn="ctr">
              <a:lnSpc>
                <a:spcPts val="2801"/>
              </a:lnSpc>
              <a:buNone/>
            </a:pPr>
            <a:r>
              <a:rPr lang="en-US" sz="2241" b="1" dirty="0">
                <a:solidFill>
                  <a:srgbClr val="EDEDE8"/>
                </a:solidFill>
                <a:latin typeface="Tomorrow" pitchFamily="34" charset="0"/>
                <a:ea typeface="Tomorrow" pitchFamily="34" charset="-122"/>
                <a:cs typeface="Tomorrow" pitchFamily="34" charset="-120"/>
              </a:rPr>
              <a:t>3</a:t>
            </a:r>
            <a:endParaRPr lang="en-US" sz="2241" dirty="0"/>
          </a:p>
        </p:txBody>
      </p:sp>
      <p:sp>
        <p:nvSpPr>
          <p:cNvPr id="21" name="Text 18"/>
          <p:cNvSpPr/>
          <p:nvPr/>
        </p:nvSpPr>
        <p:spPr>
          <a:xfrm>
            <a:off x="3438287" y="4982528"/>
            <a:ext cx="2833568" cy="296466"/>
          </a:xfrm>
          <a:prstGeom prst="rect">
            <a:avLst/>
          </a:prstGeom>
          <a:noFill/>
          <a:ln/>
        </p:spPr>
        <p:txBody>
          <a:bodyPr wrap="none" rtlCol="0" anchor="t"/>
          <a:lstStyle/>
          <a:p>
            <a:pPr marL="0" indent="0" algn="r">
              <a:lnSpc>
                <a:spcPts val="2334"/>
              </a:lnSpc>
              <a:buNone/>
            </a:pPr>
            <a:r>
              <a:rPr lang="en-US" sz="1867" b="1" dirty="0">
                <a:solidFill>
                  <a:srgbClr val="EDEDE8"/>
                </a:solidFill>
                <a:latin typeface="Tomorrow" pitchFamily="34" charset="0"/>
                <a:ea typeface="Tomorrow" pitchFamily="34" charset="-122"/>
                <a:cs typeface="Tomorrow" pitchFamily="34" charset="-120"/>
              </a:rPr>
              <a:t>Inverse Transformation</a:t>
            </a:r>
            <a:endParaRPr lang="en-US" sz="1867" dirty="0"/>
          </a:p>
        </p:txBody>
      </p:sp>
      <p:sp>
        <p:nvSpPr>
          <p:cNvPr id="22" name="Text 19"/>
          <p:cNvSpPr/>
          <p:nvPr/>
        </p:nvSpPr>
        <p:spPr>
          <a:xfrm>
            <a:off x="2809756" y="5392698"/>
            <a:ext cx="3462099" cy="2123599"/>
          </a:xfrm>
          <a:prstGeom prst="rect">
            <a:avLst/>
          </a:prstGeom>
          <a:noFill/>
          <a:ln/>
        </p:spPr>
        <p:txBody>
          <a:bodyPr wrap="square" rtlCol="0" anchor="t"/>
          <a:lstStyle/>
          <a:p>
            <a:pPr marL="0" indent="0" algn="r">
              <a:lnSpc>
                <a:spcPts val="2390"/>
              </a:lnSpc>
              <a:buNone/>
            </a:pPr>
            <a:r>
              <a:rPr lang="en-US" sz="1494" dirty="0">
                <a:solidFill>
                  <a:srgbClr val="C9C9C0"/>
                </a:solidFill>
                <a:latin typeface="Tomorrow" pitchFamily="34" charset="0"/>
                <a:ea typeface="Tomorrow" pitchFamily="34" charset="-122"/>
                <a:cs typeface="Tomorrow" pitchFamily="34" charset="-120"/>
              </a:rPr>
              <a:t>After the frequency-domain processing is complete, the modified Fourier Transform is then subjected to an Inverse Fourier Transform, converting the image back to the spatial domain and producing the enhanced or restored output.</a:t>
            </a:r>
            <a:endParaRPr lang="en-US" sz="1494" dirty="0"/>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31862"/>
          </a:xfrm>
          <a:prstGeom prst="rect">
            <a:avLst/>
          </a:prstGeom>
          <a:solidFill>
            <a:srgbClr val="1D1D1B"/>
          </a:solidFill>
          <a:ln/>
        </p:spPr>
      </p:sp>
      <p:sp>
        <p:nvSpPr>
          <p:cNvPr id="4" name="Text 2"/>
          <p:cNvSpPr/>
          <p:nvPr/>
        </p:nvSpPr>
        <p:spPr>
          <a:xfrm>
            <a:off x="2315766" y="578882"/>
            <a:ext cx="5262563" cy="657820"/>
          </a:xfrm>
          <a:prstGeom prst="rect">
            <a:avLst/>
          </a:prstGeom>
          <a:noFill/>
          <a:ln/>
        </p:spPr>
        <p:txBody>
          <a:bodyPr wrap="none" rtlCol="0" anchor="t"/>
          <a:lstStyle/>
          <a:p>
            <a:pPr marL="0" indent="0">
              <a:lnSpc>
                <a:spcPts val="5180"/>
              </a:lnSpc>
              <a:buNone/>
            </a:pPr>
            <a:r>
              <a:rPr lang="en-US" sz="4144" b="1" dirty="0">
                <a:solidFill>
                  <a:srgbClr val="EDEDE8"/>
                </a:solidFill>
                <a:latin typeface="Tomorrow" pitchFamily="34" charset="0"/>
                <a:ea typeface="Tomorrow" pitchFamily="34" charset="-122"/>
                <a:cs typeface="Tomorrow" pitchFamily="34" charset="-120"/>
              </a:rPr>
              <a:t>Output</a:t>
            </a:r>
            <a:endParaRPr lang="en-US" sz="4144" dirty="0"/>
          </a:p>
        </p:txBody>
      </p:sp>
      <p:sp>
        <p:nvSpPr>
          <p:cNvPr id="5" name="Shape 3"/>
          <p:cNvSpPr/>
          <p:nvPr/>
        </p:nvSpPr>
        <p:spPr>
          <a:xfrm>
            <a:off x="2315766" y="1657707"/>
            <a:ext cx="4894183" cy="2888456"/>
          </a:xfrm>
          <a:prstGeom prst="roundRect">
            <a:avLst>
              <a:gd name="adj" fmla="val 4373"/>
            </a:avLst>
          </a:prstGeom>
          <a:solidFill>
            <a:srgbClr val="0B0B0A"/>
          </a:solidFill>
          <a:ln/>
        </p:spPr>
      </p:sp>
      <p:sp>
        <p:nvSpPr>
          <p:cNvPr id="6" name="Text 4"/>
          <p:cNvSpPr/>
          <p:nvPr/>
        </p:nvSpPr>
        <p:spPr>
          <a:xfrm>
            <a:off x="2526268" y="1868210"/>
            <a:ext cx="3264575" cy="328851"/>
          </a:xfrm>
          <a:prstGeom prst="rect">
            <a:avLst/>
          </a:prstGeom>
          <a:noFill/>
          <a:ln/>
        </p:spPr>
        <p:txBody>
          <a:bodyPr wrap="none" rtlCol="0" anchor="t"/>
          <a:lstStyle/>
          <a:p>
            <a:pPr marL="0" indent="0">
              <a:lnSpc>
                <a:spcPts val="2590"/>
              </a:lnSpc>
              <a:buNone/>
            </a:pPr>
            <a:r>
              <a:rPr lang="en-US" sz="2072" b="1" dirty="0">
                <a:solidFill>
                  <a:srgbClr val="EDEDE8"/>
                </a:solidFill>
                <a:latin typeface="Tomorrow" pitchFamily="34" charset="0"/>
                <a:ea typeface="Tomorrow" pitchFamily="34" charset="-122"/>
                <a:cs typeface="Tomorrow" pitchFamily="34" charset="-120"/>
              </a:rPr>
              <a:t>Improved Image Quality</a:t>
            </a:r>
            <a:endParaRPr lang="en-US" sz="2072" dirty="0"/>
          </a:p>
        </p:txBody>
      </p:sp>
      <p:sp>
        <p:nvSpPr>
          <p:cNvPr id="7" name="Text 5"/>
          <p:cNvSpPr/>
          <p:nvPr/>
        </p:nvSpPr>
        <p:spPr>
          <a:xfrm>
            <a:off x="2526268" y="2323267"/>
            <a:ext cx="4473178" cy="1683544"/>
          </a:xfrm>
          <a:prstGeom prst="rect">
            <a:avLst/>
          </a:prstGeom>
          <a:noFill/>
          <a:ln/>
        </p:spPr>
        <p:txBody>
          <a:bodyPr wrap="square" rtlCol="0" anchor="t"/>
          <a:lstStyle/>
          <a:p>
            <a:pPr marL="0" indent="0">
              <a:lnSpc>
                <a:spcPts val="2652"/>
              </a:lnSpc>
              <a:buNone/>
            </a:pPr>
            <a:r>
              <a:rPr lang="en-US" sz="1658" dirty="0">
                <a:solidFill>
                  <a:srgbClr val="C9C9C0"/>
                </a:solidFill>
                <a:latin typeface="Tomorrow" pitchFamily="34" charset="0"/>
                <a:ea typeface="Tomorrow" pitchFamily="34" charset="-122"/>
                <a:cs typeface="Tomorrow" pitchFamily="34" charset="-120"/>
              </a:rPr>
              <a:t>The Fourier Transform-based image enhancement and restoration techniques have resulted in significantly improved image quality, with sharper details, reduced noise, and enhanced visual clarity.</a:t>
            </a:r>
            <a:endParaRPr lang="en-US" sz="1658" dirty="0"/>
          </a:p>
        </p:txBody>
      </p:sp>
      <p:sp>
        <p:nvSpPr>
          <p:cNvPr id="8" name="Shape 6"/>
          <p:cNvSpPr/>
          <p:nvPr/>
        </p:nvSpPr>
        <p:spPr>
          <a:xfrm>
            <a:off x="7420451" y="1657707"/>
            <a:ext cx="4894183" cy="2888456"/>
          </a:xfrm>
          <a:prstGeom prst="roundRect">
            <a:avLst>
              <a:gd name="adj" fmla="val 4373"/>
            </a:avLst>
          </a:prstGeom>
          <a:solidFill>
            <a:srgbClr val="0B0B0A"/>
          </a:solidFill>
          <a:ln/>
        </p:spPr>
      </p:sp>
      <p:sp>
        <p:nvSpPr>
          <p:cNvPr id="9" name="Text 7"/>
          <p:cNvSpPr/>
          <p:nvPr/>
        </p:nvSpPr>
        <p:spPr>
          <a:xfrm>
            <a:off x="7630954" y="1868210"/>
            <a:ext cx="4473178" cy="657701"/>
          </a:xfrm>
          <a:prstGeom prst="rect">
            <a:avLst/>
          </a:prstGeom>
          <a:noFill/>
          <a:ln/>
        </p:spPr>
        <p:txBody>
          <a:bodyPr wrap="square" rtlCol="0" anchor="t"/>
          <a:lstStyle/>
          <a:p>
            <a:pPr marL="0" indent="0">
              <a:lnSpc>
                <a:spcPts val="2590"/>
              </a:lnSpc>
              <a:buNone/>
            </a:pPr>
            <a:r>
              <a:rPr lang="en-US" sz="2072" b="1" dirty="0">
                <a:solidFill>
                  <a:srgbClr val="EDEDE8"/>
                </a:solidFill>
                <a:latin typeface="Tomorrow" pitchFamily="34" charset="0"/>
                <a:ea typeface="Tomorrow" pitchFamily="34" charset="-122"/>
                <a:cs typeface="Tomorrow" pitchFamily="34" charset="-120"/>
              </a:rPr>
              <a:t>Preservation of Important Features</a:t>
            </a:r>
            <a:endParaRPr lang="en-US" sz="2072" dirty="0"/>
          </a:p>
        </p:txBody>
      </p:sp>
      <p:sp>
        <p:nvSpPr>
          <p:cNvPr id="10" name="Text 8"/>
          <p:cNvSpPr/>
          <p:nvPr/>
        </p:nvSpPr>
        <p:spPr>
          <a:xfrm>
            <a:off x="7630954" y="2652117"/>
            <a:ext cx="4473178" cy="1683544"/>
          </a:xfrm>
          <a:prstGeom prst="rect">
            <a:avLst/>
          </a:prstGeom>
          <a:noFill/>
          <a:ln/>
        </p:spPr>
        <p:txBody>
          <a:bodyPr wrap="square" rtlCol="0" anchor="t"/>
          <a:lstStyle/>
          <a:p>
            <a:pPr marL="0" indent="0">
              <a:lnSpc>
                <a:spcPts val="2652"/>
              </a:lnSpc>
              <a:buNone/>
            </a:pPr>
            <a:r>
              <a:rPr lang="en-US" sz="1658" dirty="0">
                <a:solidFill>
                  <a:srgbClr val="C9C9C0"/>
                </a:solidFill>
                <a:latin typeface="Tomorrow" pitchFamily="34" charset="0"/>
                <a:ea typeface="Tomorrow" pitchFamily="34" charset="-122"/>
                <a:cs typeface="Tomorrow" pitchFamily="34" charset="-120"/>
              </a:rPr>
              <a:t>The selective frequency filtering approach has ensured that the essential features and characteristics of the original images are preserved, while unwanted artifacts and distortions are effectively removed.</a:t>
            </a:r>
            <a:endParaRPr lang="en-US" sz="1658" dirty="0"/>
          </a:p>
        </p:txBody>
      </p:sp>
      <p:sp>
        <p:nvSpPr>
          <p:cNvPr id="11" name="Shape 9"/>
          <p:cNvSpPr/>
          <p:nvPr/>
        </p:nvSpPr>
        <p:spPr>
          <a:xfrm>
            <a:off x="2315766" y="4756666"/>
            <a:ext cx="4894183" cy="2896314"/>
          </a:xfrm>
          <a:prstGeom prst="roundRect">
            <a:avLst>
              <a:gd name="adj" fmla="val 4361"/>
            </a:avLst>
          </a:prstGeom>
          <a:solidFill>
            <a:srgbClr val="0B0B0A"/>
          </a:solidFill>
          <a:ln/>
        </p:spPr>
      </p:sp>
      <p:sp>
        <p:nvSpPr>
          <p:cNvPr id="12" name="Text 10"/>
          <p:cNvSpPr/>
          <p:nvPr/>
        </p:nvSpPr>
        <p:spPr>
          <a:xfrm>
            <a:off x="2526268" y="4967168"/>
            <a:ext cx="2892385" cy="328851"/>
          </a:xfrm>
          <a:prstGeom prst="rect">
            <a:avLst/>
          </a:prstGeom>
          <a:noFill/>
          <a:ln/>
        </p:spPr>
        <p:txBody>
          <a:bodyPr wrap="none" rtlCol="0" anchor="t"/>
          <a:lstStyle/>
          <a:p>
            <a:pPr marL="0" indent="0">
              <a:lnSpc>
                <a:spcPts val="2590"/>
              </a:lnSpc>
              <a:buNone/>
            </a:pPr>
            <a:r>
              <a:rPr lang="en-US" sz="2072" b="1" dirty="0">
                <a:solidFill>
                  <a:srgbClr val="EDEDE8"/>
                </a:solidFill>
                <a:latin typeface="Tomorrow" pitchFamily="34" charset="0"/>
                <a:ea typeface="Tomorrow" pitchFamily="34" charset="-122"/>
              </a:rPr>
              <a:t>Enhanced Frequency components</a:t>
            </a:r>
            <a:endParaRPr lang="en-US" sz="2072" dirty="0"/>
          </a:p>
        </p:txBody>
      </p:sp>
      <p:sp>
        <p:nvSpPr>
          <p:cNvPr id="13" name="Text 11"/>
          <p:cNvSpPr/>
          <p:nvPr/>
        </p:nvSpPr>
        <p:spPr>
          <a:xfrm>
            <a:off x="2526268" y="5422225"/>
            <a:ext cx="4473178" cy="2020253"/>
          </a:xfrm>
          <a:prstGeom prst="rect">
            <a:avLst/>
          </a:prstGeom>
          <a:noFill/>
          <a:ln/>
        </p:spPr>
        <p:txBody>
          <a:bodyPr wrap="square" rtlCol="0" anchor="t"/>
          <a:lstStyle/>
          <a:p>
            <a:pPr marL="0" indent="0">
              <a:lnSpc>
                <a:spcPts val="2652"/>
              </a:lnSpc>
              <a:buNone/>
            </a:pPr>
            <a:r>
              <a:rPr lang="en-US" sz="1658" dirty="0">
                <a:solidFill>
                  <a:srgbClr val="C9C9C0"/>
                </a:solidFill>
                <a:latin typeface="Tomorrow" pitchFamily="34" charset="0"/>
                <a:ea typeface="Tomorrow" pitchFamily="34" charset="-122"/>
                <a:cs typeface="Tomorrow" pitchFamily="34" charset="-120"/>
              </a:rPr>
              <a:t>After applying enhancement techniques in the frequency domain, the output includes enhance frequency components. Enhanced high-frequency components can improve edge sharpness, detail visibility, and overall image quality.</a:t>
            </a:r>
            <a:endParaRPr lang="en-US" sz="1658" dirty="0"/>
          </a:p>
        </p:txBody>
      </p:sp>
      <p:sp>
        <p:nvSpPr>
          <p:cNvPr id="14" name="Shape 12"/>
          <p:cNvSpPr/>
          <p:nvPr/>
        </p:nvSpPr>
        <p:spPr>
          <a:xfrm>
            <a:off x="7420451" y="4756666"/>
            <a:ext cx="4894183" cy="2896314"/>
          </a:xfrm>
          <a:prstGeom prst="roundRect">
            <a:avLst>
              <a:gd name="adj" fmla="val 4361"/>
            </a:avLst>
          </a:prstGeom>
          <a:solidFill>
            <a:srgbClr val="0B0B0A"/>
          </a:solidFill>
          <a:ln/>
        </p:spPr>
      </p:sp>
      <p:sp>
        <p:nvSpPr>
          <p:cNvPr id="15" name="Text 13"/>
          <p:cNvSpPr/>
          <p:nvPr/>
        </p:nvSpPr>
        <p:spPr>
          <a:xfrm>
            <a:off x="7630954" y="4967168"/>
            <a:ext cx="2725579" cy="328851"/>
          </a:xfrm>
          <a:prstGeom prst="rect">
            <a:avLst/>
          </a:prstGeom>
          <a:noFill/>
          <a:ln/>
        </p:spPr>
        <p:txBody>
          <a:bodyPr wrap="none" rtlCol="0" anchor="t"/>
          <a:lstStyle/>
          <a:p>
            <a:pPr marL="0" indent="0">
              <a:lnSpc>
                <a:spcPts val="2590"/>
              </a:lnSpc>
              <a:buNone/>
            </a:pPr>
            <a:r>
              <a:rPr lang="en-US" sz="2072" b="1" dirty="0">
                <a:solidFill>
                  <a:srgbClr val="EDEDE8"/>
                </a:solidFill>
                <a:latin typeface="Tomorrow" pitchFamily="34" charset="0"/>
                <a:ea typeface="Tomorrow" pitchFamily="34" charset="-122"/>
                <a:cs typeface="Tomorrow" pitchFamily="34" charset="-120"/>
              </a:rPr>
              <a:t>Increased Efficiency</a:t>
            </a:r>
            <a:endParaRPr lang="en-US" sz="2072" dirty="0"/>
          </a:p>
        </p:txBody>
      </p:sp>
      <p:sp>
        <p:nvSpPr>
          <p:cNvPr id="16" name="Text 14"/>
          <p:cNvSpPr/>
          <p:nvPr/>
        </p:nvSpPr>
        <p:spPr>
          <a:xfrm>
            <a:off x="7630954" y="5422225"/>
            <a:ext cx="4473178" cy="2020253"/>
          </a:xfrm>
          <a:prstGeom prst="rect">
            <a:avLst/>
          </a:prstGeom>
          <a:noFill/>
          <a:ln/>
        </p:spPr>
        <p:txBody>
          <a:bodyPr wrap="square" rtlCol="0" anchor="t"/>
          <a:lstStyle/>
          <a:p>
            <a:pPr marL="0" indent="0">
              <a:lnSpc>
                <a:spcPts val="2652"/>
              </a:lnSpc>
              <a:buNone/>
            </a:pPr>
            <a:r>
              <a:rPr lang="en-US" sz="1658" dirty="0">
                <a:solidFill>
                  <a:srgbClr val="C9C9C0"/>
                </a:solidFill>
                <a:latin typeface="Tomorrow" pitchFamily="34" charset="0"/>
                <a:ea typeface="Tomorrow" pitchFamily="34" charset="-122"/>
                <a:cs typeface="Tomorrow" pitchFamily="34" charset="-120"/>
              </a:rPr>
              <a:t>The computational efficiency of the Fourier Transform-based techniques has enabled faster and more streamlined image processing workflows, contributing to enhanced productivity and time-saving benefits.</a:t>
            </a:r>
            <a:endParaRPr lang="en-US" sz="1658" dirty="0"/>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40333"/>
            <a:ext cx="14630400" cy="8229600"/>
          </a:xfrm>
          <a:prstGeom prst="rect">
            <a:avLst/>
          </a:prstGeom>
          <a:solidFill>
            <a:srgbClr val="1D1D1B"/>
          </a:solidFill>
          <a:ln/>
        </p:spPr>
        <p:txBody>
          <a:bodyPr/>
          <a:lstStyle/>
          <a:p>
            <a:endParaRPr lang="en-IN" dirty="0"/>
          </a:p>
        </p:txBody>
      </p:sp>
      <p:sp>
        <p:nvSpPr>
          <p:cNvPr id="4" name="Text 2"/>
          <p:cNvSpPr/>
          <p:nvPr/>
        </p:nvSpPr>
        <p:spPr>
          <a:xfrm>
            <a:off x="2037993" y="383078"/>
            <a:ext cx="5554980" cy="694373"/>
          </a:xfrm>
          <a:prstGeom prst="rect">
            <a:avLst/>
          </a:prstGeom>
          <a:noFill/>
          <a:ln/>
        </p:spPr>
        <p:txBody>
          <a:bodyPr wrap="none" rtlCol="0" anchor="t"/>
          <a:lstStyle/>
          <a:p>
            <a:pPr marL="0" indent="0">
              <a:lnSpc>
                <a:spcPts val="5468"/>
              </a:lnSpc>
              <a:buNone/>
            </a:pPr>
            <a:r>
              <a:rPr lang="en-US" sz="4800" b="1" dirty="0">
                <a:solidFill>
                  <a:srgbClr val="EDEDE8"/>
                </a:solidFill>
                <a:latin typeface="Tomorrow" pitchFamily="34" charset="0"/>
                <a:ea typeface="Tomorrow" pitchFamily="34" charset="-122"/>
                <a:cs typeface="Tomorrow" pitchFamily="34" charset="-120"/>
              </a:rPr>
              <a:t>Contribution</a:t>
            </a:r>
            <a:endParaRPr lang="en-US" sz="4800" dirty="0"/>
          </a:p>
        </p:txBody>
      </p:sp>
      <p:sp>
        <p:nvSpPr>
          <p:cNvPr id="6" name="Text 3"/>
          <p:cNvSpPr/>
          <p:nvPr/>
        </p:nvSpPr>
        <p:spPr>
          <a:xfrm>
            <a:off x="2247899" y="1676400"/>
            <a:ext cx="2139950" cy="596900"/>
          </a:xfrm>
          <a:prstGeom prst="rect">
            <a:avLst/>
          </a:prstGeom>
          <a:noFill/>
          <a:ln/>
        </p:spPr>
        <p:txBody>
          <a:bodyPr wrap="square" rtlCol="0" anchor="t"/>
          <a:lstStyle/>
          <a:p>
            <a:pPr marL="0" indent="0" algn="l">
              <a:lnSpc>
                <a:spcPts val="2734"/>
              </a:lnSpc>
              <a:buNone/>
            </a:pPr>
            <a:r>
              <a:rPr lang="en-US" sz="2400" b="1" dirty="0">
                <a:solidFill>
                  <a:srgbClr val="EDEDE8"/>
                </a:solidFill>
                <a:latin typeface="Tomorrow" pitchFamily="34" charset="0"/>
                <a:ea typeface="Tomorrow" pitchFamily="34" charset="-122"/>
              </a:rPr>
              <a:t>Kishore          -</a:t>
            </a:r>
            <a:endParaRPr lang="en-US" sz="2400" dirty="0"/>
          </a:p>
        </p:txBody>
      </p:sp>
      <p:sp>
        <p:nvSpPr>
          <p:cNvPr id="18" name="TextBox 17">
            <a:extLst>
              <a:ext uri="{FF2B5EF4-FFF2-40B4-BE49-F238E27FC236}">
                <a16:creationId xmlns:a16="http://schemas.microsoft.com/office/drawing/2014/main" id="{45022990-DA07-305F-DAB6-81FD4F465542}"/>
              </a:ext>
            </a:extLst>
          </p:cNvPr>
          <p:cNvSpPr txBox="1"/>
          <p:nvPr/>
        </p:nvSpPr>
        <p:spPr>
          <a:xfrm>
            <a:off x="4387849" y="1700083"/>
            <a:ext cx="9169400" cy="830997"/>
          </a:xfrm>
          <a:prstGeom prst="rect">
            <a:avLst/>
          </a:prstGeom>
          <a:noFill/>
        </p:spPr>
        <p:txBody>
          <a:bodyPr wrap="square" rtlCol="0">
            <a:spAutoFit/>
          </a:bodyPr>
          <a:lstStyle/>
          <a:p>
            <a:r>
              <a:rPr lang="en-US" sz="2400" dirty="0">
                <a:solidFill>
                  <a:srgbClr val="EDEDE8"/>
                </a:solidFill>
                <a:latin typeface="Tomorrow" pitchFamily="34" charset="0"/>
                <a:ea typeface="Tomorrow" pitchFamily="34" charset="-122"/>
              </a:rPr>
              <a:t>Research on the overall process of Fourier Transform and provided idea of enhancement and magnitude spectrum in MATLAB.</a:t>
            </a:r>
            <a:endParaRPr lang="en-IN" sz="2400" dirty="0"/>
          </a:p>
        </p:txBody>
      </p:sp>
      <p:sp>
        <p:nvSpPr>
          <p:cNvPr id="19" name="TextBox 18">
            <a:extLst>
              <a:ext uri="{FF2B5EF4-FFF2-40B4-BE49-F238E27FC236}">
                <a16:creationId xmlns:a16="http://schemas.microsoft.com/office/drawing/2014/main" id="{BB3B0E3E-9DA2-3A69-85AC-A711FB90D92D}"/>
              </a:ext>
            </a:extLst>
          </p:cNvPr>
          <p:cNvSpPr txBox="1"/>
          <p:nvPr/>
        </p:nvSpPr>
        <p:spPr>
          <a:xfrm>
            <a:off x="2247899" y="4562088"/>
            <a:ext cx="3067407" cy="461665"/>
          </a:xfrm>
          <a:prstGeom prst="rect">
            <a:avLst/>
          </a:prstGeom>
          <a:noFill/>
        </p:spPr>
        <p:txBody>
          <a:bodyPr wrap="square" rtlCol="0">
            <a:spAutoFit/>
          </a:bodyPr>
          <a:lstStyle/>
          <a:p>
            <a:r>
              <a:rPr lang="en-IN" sz="2400" b="1" dirty="0">
                <a:solidFill>
                  <a:schemeClr val="bg1"/>
                </a:solidFill>
                <a:latin typeface="Tomorrow"/>
              </a:rPr>
              <a:t>Koushal          -  </a:t>
            </a:r>
          </a:p>
        </p:txBody>
      </p:sp>
      <p:sp>
        <p:nvSpPr>
          <p:cNvPr id="20" name="TextBox 19">
            <a:extLst>
              <a:ext uri="{FF2B5EF4-FFF2-40B4-BE49-F238E27FC236}">
                <a16:creationId xmlns:a16="http://schemas.microsoft.com/office/drawing/2014/main" id="{C55CC34E-105B-66D6-A28A-C7749A0E39BD}"/>
              </a:ext>
            </a:extLst>
          </p:cNvPr>
          <p:cNvSpPr txBox="1"/>
          <p:nvPr/>
        </p:nvSpPr>
        <p:spPr>
          <a:xfrm>
            <a:off x="2247899" y="3032641"/>
            <a:ext cx="3213100" cy="461665"/>
          </a:xfrm>
          <a:prstGeom prst="rect">
            <a:avLst/>
          </a:prstGeom>
          <a:noFill/>
        </p:spPr>
        <p:txBody>
          <a:bodyPr wrap="square" rtlCol="0">
            <a:spAutoFit/>
          </a:bodyPr>
          <a:lstStyle/>
          <a:p>
            <a:r>
              <a:rPr lang="en-IN" sz="2400" b="1" dirty="0">
                <a:solidFill>
                  <a:schemeClr val="bg1"/>
                </a:solidFill>
              </a:rPr>
              <a:t>Sai Charan     -  </a:t>
            </a:r>
          </a:p>
        </p:txBody>
      </p:sp>
      <p:sp>
        <p:nvSpPr>
          <p:cNvPr id="21" name="TextBox 20">
            <a:extLst>
              <a:ext uri="{FF2B5EF4-FFF2-40B4-BE49-F238E27FC236}">
                <a16:creationId xmlns:a16="http://schemas.microsoft.com/office/drawing/2014/main" id="{03BA4215-E270-3244-65FD-73705C495008}"/>
              </a:ext>
            </a:extLst>
          </p:cNvPr>
          <p:cNvSpPr txBox="1"/>
          <p:nvPr/>
        </p:nvSpPr>
        <p:spPr>
          <a:xfrm>
            <a:off x="2260599" y="6322367"/>
            <a:ext cx="4254500" cy="461665"/>
          </a:xfrm>
          <a:prstGeom prst="rect">
            <a:avLst/>
          </a:prstGeom>
          <a:noFill/>
        </p:spPr>
        <p:txBody>
          <a:bodyPr wrap="square" rtlCol="0">
            <a:spAutoFit/>
          </a:bodyPr>
          <a:lstStyle/>
          <a:p>
            <a:r>
              <a:rPr lang="en-IN" sz="2400" b="1" dirty="0">
                <a:solidFill>
                  <a:schemeClr val="bg1"/>
                </a:solidFill>
              </a:rPr>
              <a:t>Naveen          - </a:t>
            </a:r>
          </a:p>
        </p:txBody>
      </p:sp>
      <p:sp>
        <p:nvSpPr>
          <p:cNvPr id="22" name="TextBox 21">
            <a:extLst>
              <a:ext uri="{FF2B5EF4-FFF2-40B4-BE49-F238E27FC236}">
                <a16:creationId xmlns:a16="http://schemas.microsoft.com/office/drawing/2014/main" id="{F1EABB76-ED1C-452E-1104-F1EFCA44D93D}"/>
              </a:ext>
            </a:extLst>
          </p:cNvPr>
          <p:cNvSpPr txBox="1"/>
          <p:nvPr/>
        </p:nvSpPr>
        <p:spPr>
          <a:xfrm>
            <a:off x="4387849" y="3116520"/>
            <a:ext cx="8743952" cy="830997"/>
          </a:xfrm>
          <a:prstGeom prst="rect">
            <a:avLst/>
          </a:prstGeom>
          <a:noFill/>
        </p:spPr>
        <p:txBody>
          <a:bodyPr wrap="square" rtlCol="0">
            <a:spAutoFit/>
          </a:bodyPr>
          <a:lstStyle/>
          <a:p>
            <a:r>
              <a:rPr lang="en-IN" sz="2400" dirty="0">
                <a:solidFill>
                  <a:schemeClr val="bg1"/>
                </a:solidFill>
                <a:latin typeface="Tomorrow"/>
                <a:ea typeface="Tomorrow"/>
              </a:rPr>
              <a:t>Research on Enhancement using Fourier Transform in Image Processing and spectral analysis</a:t>
            </a:r>
          </a:p>
        </p:txBody>
      </p:sp>
      <p:sp>
        <p:nvSpPr>
          <p:cNvPr id="24" name="TextBox 23">
            <a:extLst>
              <a:ext uri="{FF2B5EF4-FFF2-40B4-BE49-F238E27FC236}">
                <a16:creationId xmlns:a16="http://schemas.microsoft.com/office/drawing/2014/main" id="{BB10FB57-467E-93B3-9276-8F56EC7372F4}"/>
              </a:ext>
            </a:extLst>
          </p:cNvPr>
          <p:cNvSpPr txBox="1"/>
          <p:nvPr/>
        </p:nvSpPr>
        <p:spPr>
          <a:xfrm>
            <a:off x="4387849" y="4635500"/>
            <a:ext cx="8128000" cy="830997"/>
          </a:xfrm>
          <a:prstGeom prst="rect">
            <a:avLst/>
          </a:prstGeom>
          <a:noFill/>
        </p:spPr>
        <p:txBody>
          <a:bodyPr wrap="square" rtlCol="0">
            <a:spAutoFit/>
          </a:bodyPr>
          <a:lstStyle/>
          <a:p>
            <a:r>
              <a:rPr lang="en-IN" sz="2400" dirty="0">
                <a:solidFill>
                  <a:schemeClr val="bg1"/>
                </a:solidFill>
              </a:rPr>
              <a:t>Research on adaptive filtering and to supress noise and preserving image details in frequency domain.</a:t>
            </a:r>
          </a:p>
        </p:txBody>
      </p:sp>
      <p:sp>
        <p:nvSpPr>
          <p:cNvPr id="25" name="TextBox 24">
            <a:extLst>
              <a:ext uri="{FF2B5EF4-FFF2-40B4-BE49-F238E27FC236}">
                <a16:creationId xmlns:a16="http://schemas.microsoft.com/office/drawing/2014/main" id="{085BCCEC-A9AB-89F2-D2FF-4EC05123E530}"/>
              </a:ext>
            </a:extLst>
          </p:cNvPr>
          <p:cNvSpPr txBox="1"/>
          <p:nvPr/>
        </p:nvSpPr>
        <p:spPr>
          <a:xfrm>
            <a:off x="4387849" y="6191011"/>
            <a:ext cx="8547101" cy="830997"/>
          </a:xfrm>
          <a:prstGeom prst="rect">
            <a:avLst/>
          </a:prstGeom>
          <a:noFill/>
        </p:spPr>
        <p:txBody>
          <a:bodyPr wrap="square" rtlCol="0">
            <a:spAutoFit/>
          </a:bodyPr>
          <a:lstStyle/>
          <a:p>
            <a:r>
              <a:rPr lang="en-IN" sz="2400" dirty="0">
                <a:solidFill>
                  <a:schemeClr val="bg1"/>
                </a:solidFill>
              </a:rPr>
              <a:t>Research on overall process of Fourier Transform and enhancement and frequency analysis in Fourier Transform and Inverse Transform.</a:t>
            </a: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183</TotalTime>
  <Words>743</Words>
  <Application>Microsoft Office PowerPoint</Application>
  <PresentationFormat>Custom</PresentationFormat>
  <Paragraphs>63</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Aharoni</vt:lpstr>
      <vt:lpstr>Arial</vt:lpstr>
      <vt:lpstr>Tomorrow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Nareen Babu</cp:lastModifiedBy>
  <cp:revision>3</cp:revision>
  <dcterms:created xsi:type="dcterms:W3CDTF">2024-04-01T15:41:23Z</dcterms:created>
  <dcterms:modified xsi:type="dcterms:W3CDTF">2024-04-01T18:48:45Z</dcterms:modified>
</cp:coreProperties>
</file>